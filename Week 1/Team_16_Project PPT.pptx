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agalin" charset="1" panose="00000500000000000000"/>
      <p:regular r:id="rId17"/>
    </p:embeddedFont>
    <p:embeddedFont>
      <p:font typeface="Cinzel Bold" charset="1" panose="00000800000000000000"/>
      <p:regular r:id="rId18"/>
    </p:embeddedFont>
    <p:embeddedFont>
      <p:font typeface="Arimo Bold" charset="1" panose="020B0704020202020204"/>
      <p:regular r:id="rId19"/>
    </p:embeddedFont>
    <p:embeddedFont>
      <p:font typeface="Arimo" charset="1" panose="020B0604020202020204"/>
      <p:regular r:id="rId20"/>
    </p:embeddedFont>
    <p:embeddedFont>
      <p:font typeface="Poppins Bold" charset="1" panose="00000800000000000000"/>
      <p:regular r:id="rId21"/>
    </p:embeddedFont>
    <p:embeddedFont>
      <p:font typeface="Poppins" charset="1" panose="00000500000000000000"/>
      <p:regular r:id="rId22"/>
    </p:embeddedFont>
    <p:embeddedFont>
      <p:font typeface="Canva Sans" charset="1" panose="020B0503030501040103"/>
      <p:regular r:id="rId23"/>
    </p:embeddedFont>
    <p:embeddedFont>
      <p:font typeface="Canva Sans Bold" charset="1" panose="020B08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118974" y="4244727"/>
            <a:ext cx="7703875" cy="1152492"/>
            <a:chOff x="0" y="0"/>
            <a:chExt cx="2029004" cy="303537"/>
          </a:xfrm>
        </p:grpSpPr>
        <p:sp>
          <p:nvSpPr>
            <p:cNvPr name="Freeform 4" id="4"/>
            <p:cNvSpPr/>
            <p:nvPr/>
          </p:nvSpPr>
          <p:spPr>
            <a:xfrm flipH="false" flipV="false" rot="0">
              <a:off x="0" y="0"/>
              <a:ext cx="2029004" cy="303537"/>
            </a:xfrm>
            <a:custGeom>
              <a:avLst/>
              <a:gdLst/>
              <a:ahLst/>
              <a:cxnLst/>
              <a:rect r="r" b="b" t="t" l="l"/>
              <a:pathLst>
                <a:path h="303537" w="2029004">
                  <a:moveTo>
                    <a:pt x="100494" y="0"/>
                  </a:moveTo>
                  <a:lnTo>
                    <a:pt x="1928510" y="0"/>
                  </a:lnTo>
                  <a:cubicBezTo>
                    <a:pt x="1984011" y="0"/>
                    <a:pt x="2029004" y="44993"/>
                    <a:pt x="2029004" y="100494"/>
                  </a:cubicBezTo>
                  <a:lnTo>
                    <a:pt x="2029004" y="203043"/>
                  </a:lnTo>
                  <a:cubicBezTo>
                    <a:pt x="2029004" y="258544"/>
                    <a:pt x="1984011" y="303537"/>
                    <a:pt x="1928510" y="303537"/>
                  </a:cubicBezTo>
                  <a:lnTo>
                    <a:pt x="100494" y="303537"/>
                  </a:lnTo>
                  <a:cubicBezTo>
                    <a:pt x="44993" y="303537"/>
                    <a:pt x="0" y="258544"/>
                    <a:pt x="0" y="203043"/>
                  </a:cubicBezTo>
                  <a:lnTo>
                    <a:pt x="0" y="100494"/>
                  </a:lnTo>
                  <a:cubicBezTo>
                    <a:pt x="0" y="44993"/>
                    <a:pt x="44993" y="0"/>
                    <a:pt x="100494" y="0"/>
                  </a:cubicBezTo>
                  <a:close/>
                </a:path>
              </a:pathLst>
            </a:custGeom>
            <a:ln w="85725" cap="rnd">
              <a:solidFill>
                <a:srgbClr val="5CA3B2"/>
              </a:solidFill>
              <a:prstDash val="solid"/>
              <a:round/>
            </a:ln>
          </p:spPr>
        </p:sp>
        <p:sp>
          <p:nvSpPr>
            <p:cNvPr name="TextBox 5" id="5"/>
            <p:cNvSpPr txBox="true"/>
            <p:nvPr/>
          </p:nvSpPr>
          <p:spPr>
            <a:xfrm>
              <a:off x="0" y="-57150"/>
              <a:ext cx="2029004" cy="36068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60343" y="9889125"/>
            <a:ext cx="19408687" cy="996493"/>
            <a:chOff x="0" y="0"/>
            <a:chExt cx="5111753" cy="262451"/>
          </a:xfrm>
        </p:grpSpPr>
        <p:sp>
          <p:nvSpPr>
            <p:cNvPr name="Freeform 7" id="7"/>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8" id="8"/>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411982" y="1154825"/>
            <a:ext cx="14504319" cy="3089902"/>
          </a:xfrm>
          <a:prstGeom prst="rect">
            <a:avLst/>
          </a:prstGeom>
        </p:spPr>
        <p:txBody>
          <a:bodyPr anchor="t" rtlCol="false" tIns="0" lIns="0" bIns="0" rIns="0">
            <a:spAutoFit/>
          </a:bodyPr>
          <a:lstStyle/>
          <a:p>
            <a:pPr algn="ctr">
              <a:lnSpc>
                <a:spcPts val="12390"/>
              </a:lnSpc>
            </a:pPr>
            <a:r>
              <a:rPr lang="en-US" sz="8850">
                <a:solidFill>
                  <a:srgbClr val="FFFFFF"/>
                </a:solidFill>
                <a:latin typeface="Gagalin"/>
                <a:ea typeface="Gagalin"/>
                <a:cs typeface="Gagalin"/>
                <a:sym typeface="Gagalin"/>
              </a:rPr>
              <a:t>Crime</a:t>
            </a:r>
          </a:p>
          <a:p>
            <a:pPr algn="ctr">
              <a:lnSpc>
                <a:spcPts val="12390"/>
              </a:lnSpc>
              <a:spcBef>
                <a:spcPct val="0"/>
              </a:spcBef>
            </a:pPr>
            <a:r>
              <a:rPr lang="en-US" sz="8850">
                <a:solidFill>
                  <a:srgbClr val="FFFFFF"/>
                </a:solidFill>
                <a:latin typeface="Gagalin"/>
                <a:ea typeface="Gagalin"/>
                <a:cs typeface="Gagalin"/>
                <a:sym typeface="Gagalin"/>
              </a:rPr>
              <a:t> Hotspot Mapping</a:t>
            </a:r>
          </a:p>
        </p:txBody>
      </p:sp>
      <p:sp>
        <p:nvSpPr>
          <p:cNvPr name="TextBox 10" id="10"/>
          <p:cNvSpPr txBox="true"/>
          <p:nvPr/>
        </p:nvSpPr>
        <p:spPr>
          <a:xfrm rot="0">
            <a:off x="5914836" y="4483617"/>
            <a:ext cx="6182759" cy="1272141"/>
          </a:xfrm>
          <a:prstGeom prst="rect">
            <a:avLst/>
          </a:prstGeom>
        </p:spPr>
        <p:txBody>
          <a:bodyPr anchor="t" rtlCol="false" tIns="0" lIns="0" bIns="0" rIns="0">
            <a:spAutoFit/>
          </a:bodyPr>
          <a:lstStyle/>
          <a:p>
            <a:pPr algn="ctr">
              <a:lnSpc>
                <a:spcPts val="3381"/>
              </a:lnSpc>
              <a:spcBef>
                <a:spcPct val="0"/>
              </a:spcBef>
            </a:pPr>
            <a:r>
              <a:rPr lang="en-US" b="true" sz="2415">
                <a:solidFill>
                  <a:srgbClr val="FFFFFF"/>
                </a:solidFill>
                <a:latin typeface="Cinzel Bold"/>
                <a:ea typeface="Cinzel Bold"/>
                <a:cs typeface="Cinzel Bold"/>
                <a:sym typeface="Cinzel Bold"/>
              </a:rPr>
              <a:t>Visualizing Crime Patterns for Safer Cities</a:t>
            </a:r>
          </a:p>
          <a:p>
            <a:pPr algn="ctr">
              <a:lnSpc>
                <a:spcPts val="3381"/>
              </a:lnSpc>
              <a:spcBef>
                <a:spcPct val="0"/>
              </a:spcBef>
            </a:pPr>
          </a:p>
        </p:txBody>
      </p:sp>
      <p:sp>
        <p:nvSpPr>
          <p:cNvPr name="TextBox 11" id="11"/>
          <p:cNvSpPr txBox="true"/>
          <p:nvPr/>
        </p:nvSpPr>
        <p:spPr>
          <a:xfrm rot="0">
            <a:off x="11790371" y="6248456"/>
            <a:ext cx="6293115" cy="2435225"/>
          </a:xfrm>
          <a:prstGeom prst="rect">
            <a:avLst/>
          </a:prstGeom>
        </p:spPr>
        <p:txBody>
          <a:bodyPr anchor="t" rtlCol="false" tIns="0" lIns="0" bIns="0" rIns="0">
            <a:spAutoFit/>
          </a:bodyPr>
          <a:lstStyle/>
          <a:p>
            <a:pPr algn="ctr">
              <a:lnSpc>
                <a:spcPts val="3850"/>
              </a:lnSpc>
            </a:pPr>
            <a:r>
              <a:rPr lang="en-US" sz="2750" b="true">
                <a:solidFill>
                  <a:srgbClr val="FFFFFF"/>
                </a:solidFill>
                <a:latin typeface="Arimo Bold"/>
                <a:ea typeface="Arimo Bold"/>
                <a:cs typeface="Arimo Bold"/>
                <a:sym typeface="Arimo Bold"/>
              </a:rPr>
              <a:t>Team 17:</a:t>
            </a:r>
          </a:p>
          <a:p>
            <a:pPr algn="l">
              <a:lnSpc>
                <a:spcPts val="3850"/>
              </a:lnSpc>
              <a:spcBef>
                <a:spcPct val="0"/>
              </a:spcBef>
            </a:pPr>
            <a:r>
              <a:rPr lang="en-US" sz="2750">
                <a:solidFill>
                  <a:srgbClr val="FFFFFF"/>
                </a:solidFill>
                <a:latin typeface="Arimo"/>
                <a:ea typeface="Arimo"/>
                <a:cs typeface="Arimo"/>
                <a:sym typeface="Arimo"/>
              </a:rPr>
              <a:t>25BAD039-V</a:t>
            </a:r>
            <a:r>
              <a:rPr lang="en-US" sz="2750">
                <a:solidFill>
                  <a:srgbClr val="FFFFFF"/>
                </a:solidFill>
                <a:latin typeface="Arimo"/>
                <a:ea typeface="Arimo"/>
                <a:cs typeface="Arimo"/>
                <a:sym typeface="Arimo"/>
              </a:rPr>
              <a:t> Jayavanadhi , </a:t>
            </a:r>
          </a:p>
          <a:p>
            <a:pPr algn="l">
              <a:lnSpc>
                <a:spcPts val="3850"/>
              </a:lnSpc>
              <a:spcBef>
                <a:spcPct val="0"/>
              </a:spcBef>
            </a:pPr>
            <a:r>
              <a:rPr lang="en-US" sz="2750">
                <a:solidFill>
                  <a:srgbClr val="FFFFFF"/>
                </a:solidFill>
                <a:latin typeface="Arimo"/>
                <a:ea typeface="Arimo"/>
                <a:cs typeface="Arimo"/>
                <a:sym typeface="Arimo"/>
              </a:rPr>
              <a:t>25BAD045-Keerthi Samyktta J, </a:t>
            </a:r>
          </a:p>
          <a:p>
            <a:pPr algn="l">
              <a:lnSpc>
                <a:spcPts val="3850"/>
              </a:lnSpc>
              <a:spcBef>
                <a:spcPct val="0"/>
              </a:spcBef>
            </a:pPr>
            <a:r>
              <a:rPr lang="en-US" sz="2750">
                <a:solidFill>
                  <a:srgbClr val="FFFFFF"/>
                </a:solidFill>
                <a:latin typeface="Arimo"/>
                <a:ea typeface="Arimo"/>
                <a:cs typeface="Arimo"/>
                <a:sym typeface="Arimo"/>
              </a:rPr>
              <a:t>25BAD096-Sanjana Tennyson, </a:t>
            </a:r>
          </a:p>
          <a:p>
            <a:pPr algn="l">
              <a:lnSpc>
                <a:spcPts val="3850"/>
              </a:lnSpc>
              <a:spcBef>
                <a:spcPct val="0"/>
              </a:spcBef>
            </a:pPr>
            <a:r>
              <a:rPr lang="en-US" sz="2750">
                <a:solidFill>
                  <a:srgbClr val="FFFFFF"/>
                </a:solidFill>
                <a:latin typeface="Arimo"/>
                <a:ea typeface="Arimo"/>
                <a:cs typeface="Arimo"/>
                <a:sym typeface="Arimo"/>
              </a:rPr>
              <a:t>25BAD041-Jyotika C R</a:t>
            </a:r>
          </a:p>
        </p:txBody>
      </p:sp>
      <p:sp>
        <p:nvSpPr>
          <p:cNvPr name="TextBox 12" id="12"/>
          <p:cNvSpPr txBox="true"/>
          <p:nvPr/>
        </p:nvSpPr>
        <p:spPr>
          <a:xfrm rot="0">
            <a:off x="498692" y="6257981"/>
            <a:ext cx="7751266" cy="950595"/>
          </a:xfrm>
          <a:prstGeom prst="rect">
            <a:avLst/>
          </a:prstGeom>
        </p:spPr>
        <p:txBody>
          <a:bodyPr anchor="t" rtlCol="false" tIns="0" lIns="0" bIns="0" rIns="0">
            <a:spAutoFit/>
          </a:bodyPr>
          <a:lstStyle/>
          <a:p>
            <a:pPr algn="ctr">
              <a:lnSpc>
                <a:spcPts val="3779"/>
              </a:lnSpc>
            </a:pPr>
            <a:r>
              <a:rPr lang="en-US" sz="2700" b="true">
                <a:solidFill>
                  <a:srgbClr val="FFFFFF"/>
                </a:solidFill>
                <a:latin typeface="Arimo Bold"/>
                <a:ea typeface="Arimo Bold"/>
                <a:cs typeface="Arimo Bold"/>
                <a:sym typeface="Arimo Bold"/>
              </a:rPr>
              <a:t>Course: </a:t>
            </a:r>
            <a:r>
              <a:rPr lang="en-US" sz="2700">
                <a:solidFill>
                  <a:srgbClr val="FFFFFF"/>
                </a:solidFill>
                <a:latin typeface="Arimo"/>
                <a:ea typeface="Arimo"/>
                <a:cs typeface="Arimo"/>
                <a:sym typeface="Arimo"/>
              </a:rPr>
              <a:t>24ADI204-Data Science and Visualization</a:t>
            </a:r>
          </a:p>
          <a:p>
            <a:pPr algn="ctr">
              <a:lnSpc>
                <a:spcPts val="3779"/>
              </a:lnSpc>
            </a:pPr>
          </a:p>
        </p:txBody>
      </p:sp>
      <p:sp>
        <p:nvSpPr>
          <p:cNvPr name="TextBox 13" id="13"/>
          <p:cNvSpPr txBox="true"/>
          <p:nvPr/>
        </p:nvSpPr>
        <p:spPr>
          <a:xfrm rot="0">
            <a:off x="451364" y="7551931"/>
            <a:ext cx="9145316" cy="474345"/>
          </a:xfrm>
          <a:prstGeom prst="rect">
            <a:avLst/>
          </a:prstGeom>
        </p:spPr>
        <p:txBody>
          <a:bodyPr anchor="t" rtlCol="false" tIns="0" lIns="0" bIns="0" rIns="0">
            <a:spAutoFit/>
          </a:bodyPr>
          <a:lstStyle/>
          <a:p>
            <a:pPr algn="l">
              <a:lnSpc>
                <a:spcPts val="3779"/>
              </a:lnSpc>
            </a:pPr>
            <a:r>
              <a:rPr lang="en-US" sz="2700">
                <a:solidFill>
                  <a:srgbClr val="FFFFFF"/>
                </a:solidFill>
                <a:latin typeface="Arimo"/>
                <a:ea typeface="Arimo"/>
                <a:cs typeface="Arimo"/>
                <a:sym typeface="Arimo"/>
              </a:rPr>
              <a:t>Department of Artificial Intelligence and Data Science </a:t>
            </a:r>
          </a:p>
        </p:txBody>
      </p:sp>
      <p:sp>
        <p:nvSpPr>
          <p:cNvPr name="TextBox 14" id="14"/>
          <p:cNvSpPr txBox="true"/>
          <p:nvPr/>
        </p:nvSpPr>
        <p:spPr>
          <a:xfrm rot="0">
            <a:off x="451364" y="6938066"/>
            <a:ext cx="5487665" cy="474345"/>
          </a:xfrm>
          <a:prstGeom prst="rect">
            <a:avLst/>
          </a:prstGeom>
        </p:spPr>
        <p:txBody>
          <a:bodyPr anchor="t" rtlCol="false" tIns="0" lIns="0" bIns="0" rIns="0">
            <a:spAutoFit/>
          </a:bodyPr>
          <a:lstStyle/>
          <a:p>
            <a:pPr algn="ctr">
              <a:lnSpc>
                <a:spcPts val="3779"/>
              </a:lnSpc>
            </a:pPr>
            <a:r>
              <a:rPr lang="en-US" sz="2700" b="true">
                <a:solidFill>
                  <a:srgbClr val="FFFFFF"/>
                </a:solidFill>
                <a:latin typeface="Arimo Bold"/>
                <a:ea typeface="Arimo Bold"/>
                <a:cs typeface="Arimo Bold"/>
                <a:sym typeface="Arimo Bold"/>
              </a:rPr>
              <a:t>Faculty Mentor: </a:t>
            </a:r>
            <a:r>
              <a:rPr lang="en-US" sz="2700">
                <a:solidFill>
                  <a:srgbClr val="FFFFFF"/>
                </a:solidFill>
                <a:latin typeface="Arimo"/>
                <a:ea typeface="Arimo"/>
                <a:cs typeface="Arimo"/>
                <a:sym typeface="Arimo"/>
              </a:rPr>
              <a:t>Ms. Rupashini PR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700"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459289" y="1523804"/>
            <a:ext cx="5369421" cy="1193800"/>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Gagalin"/>
                <a:ea typeface="Gagalin"/>
                <a:cs typeface="Gagalin"/>
                <a:sym typeface="Gagalin"/>
              </a:rPr>
              <a:t>Introduction </a:t>
            </a:r>
          </a:p>
        </p:txBody>
      </p:sp>
      <p:sp>
        <p:nvSpPr>
          <p:cNvPr name="TextBox 8" id="8"/>
          <p:cNvSpPr txBox="true"/>
          <p:nvPr/>
        </p:nvSpPr>
        <p:spPr>
          <a:xfrm rot="0">
            <a:off x="1889534" y="3258755"/>
            <a:ext cx="14608352" cy="1426845"/>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Arimo"/>
                <a:ea typeface="Arimo"/>
                <a:cs typeface="Arimo"/>
                <a:sym typeface="Arimo"/>
              </a:rPr>
              <a:t>Crime analysis plays a vital role in improving public safety and urban planning. Large volumes of crime data are generated every year, making it difficult to identify crime-prone areas through manual analysis.</a:t>
            </a:r>
          </a:p>
        </p:txBody>
      </p:sp>
      <p:sp>
        <p:nvSpPr>
          <p:cNvPr name="TextBox 9" id="9"/>
          <p:cNvSpPr txBox="true"/>
          <p:nvPr/>
        </p:nvSpPr>
        <p:spPr>
          <a:xfrm rot="0">
            <a:off x="1889534" y="5400829"/>
            <a:ext cx="15169532" cy="2379454"/>
          </a:xfrm>
          <a:prstGeom prst="rect">
            <a:avLst/>
          </a:prstGeom>
        </p:spPr>
        <p:txBody>
          <a:bodyPr anchor="t" rtlCol="false" tIns="0" lIns="0" bIns="0" rIns="0">
            <a:spAutoFit/>
          </a:bodyPr>
          <a:lstStyle/>
          <a:p>
            <a:pPr algn="l">
              <a:lnSpc>
                <a:spcPts val="3773"/>
              </a:lnSpc>
              <a:spcBef>
                <a:spcPct val="0"/>
              </a:spcBef>
            </a:pPr>
            <a:r>
              <a:rPr lang="en-US" sz="2695">
                <a:solidFill>
                  <a:srgbClr val="FFFFFF"/>
                </a:solidFill>
                <a:latin typeface="Arimo"/>
                <a:ea typeface="Arimo"/>
                <a:cs typeface="Arimo"/>
                <a:sym typeface="Arimo"/>
              </a:rPr>
              <a:t>By applying Data Science and Visualization techniques, crime data can be transformed into meaningful insights that help authorities understand crime trends, identify hotspots, and improve public safety.</a:t>
            </a:r>
          </a:p>
          <a:p>
            <a:pPr algn="l">
              <a:lnSpc>
                <a:spcPts val="3773"/>
              </a:lnSpc>
              <a:spcBef>
                <a:spcPct val="0"/>
              </a:spcBef>
            </a:pPr>
            <a:r>
              <a:rPr lang="en-US" sz="2695">
                <a:solidFill>
                  <a:srgbClr val="FFFFFF"/>
                </a:solidFill>
                <a:latin typeface="Arimo"/>
                <a:ea typeface="Arimo"/>
                <a:cs typeface="Arimo"/>
                <a:sym typeface="Arimo"/>
              </a:rPr>
              <a:t>This project aims to convert raw crime records into an interactive visual analytics system for better decision-making.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533853" y="895350"/>
            <a:ext cx="12029880" cy="1193803"/>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Gagalin"/>
                <a:ea typeface="Gagalin"/>
                <a:cs typeface="Gagalin"/>
                <a:sym typeface="Gagalin"/>
              </a:rPr>
              <a:t>Problem statement:</a:t>
            </a:r>
          </a:p>
        </p:txBody>
      </p:sp>
      <p:sp>
        <p:nvSpPr>
          <p:cNvPr name="TextBox 8" id="8"/>
          <p:cNvSpPr txBox="true"/>
          <p:nvPr/>
        </p:nvSpPr>
        <p:spPr>
          <a:xfrm rot="0">
            <a:off x="368125" y="2410192"/>
            <a:ext cx="17919875" cy="1903095"/>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Arimo"/>
                <a:ea typeface="Arimo"/>
                <a:cs typeface="Arimo"/>
                <a:sym typeface="Arimo"/>
              </a:rPr>
              <a:t>The Chicago Crime Incidents dataset contains millions of records collected over several years. Due to missing values, inconsistent crime descriptions, and the large volume of geographical and temporal data, extracting meaningful insights is challenging. This project aims to clean the dataset, analyze crime patterns, identify hotspots based on location and time, and develop an interactive dashboard that supports crime analysis and public safety planning.</a:t>
            </a:r>
          </a:p>
        </p:txBody>
      </p:sp>
      <p:sp>
        <p:nvSpPr>
          <p:cNvPr name="TextBox 9" id="9"/>
          <p:cNvSpPr txBox="true"/>
          <p:nvPr/>
        </p:nvSpPr>
        <p:spPr>
          <a:xfrm rot="0">
            <a:off x="368125" y="5869741"/>
            <a:ext cx="8988549" cy="2887345"/>
          </a:xfrm>
          <a:prstGeom prst="rect">
            <a:avLst/>
          </a:prstGeom>
        </p:spPr>
        <p:txBody>
          <a:bodyPr anchor="t" rtlCol="false" tIns="0" lIns="0" bIns="0" rIns="0">
            <a:spAutoFit/>
          </a:bodyPr>
          <a:lstStyle/>
          <a:p>
            <a:pPr algn="l">
              <a:lnSpc>
                <a:spcPts val="6579"/>
              </a:lnSpc>
              <a:spcBef>
                <a:spcPct val="0"/>
              </a:spcBef>
            </a:pPr>
            <a:r>
              <a:rPr lang="en-US" sz="4699">
                <a:solidFill>
                  <a:srgbClr val="FFFFFF"/>
                </a:solidFill>
                <a:latin typeface="Gagalin"/>
                <a:ea typeface="Gagalin"/>
                <a:cs typeface="Gagalin"/>
                <a:sym typeface="Gagalin"/>
              </a:rPr>
              <a:t>Challenge:</a:t>
            </a:r>
          </a:p>
          <a:p>
            <a:pPr algn="l">
              <a:lnSpc>
                <a:spcPts val="5040"/>
              </a:lnSpc>
              <a:spcBef>
                <a:spcPct val="0"/>
              </a:spcBef>
            </a:pPr>
          </a:p>
          <a:p>
            <a:pPr algn="l" marL="582930" indent="-291465" lvl="1">
              <a:lnSpc>
                <a:spcPts val="3779"/>
              </a:lnSpc>
              <a:buFont typeface="Arial"/>
              <a:buChar char="•"/>
            </a:pPr>
            <a:r>
              <a:rPr lang="en-US" sz="2700">
                <a:solidFill>
                  <a:srgbClr val="FFFFFF"/>
                </a:solidFill>
                <a:latin typeface="Arimo"/>
                <a:ea typeface="Arimo"/>
                <a:cs typeface="Arimo"/>
                <a:sym typeface="Arimo"/>
              </a:rPr>
              <a:t>Clean crime descriptions and missing data.</a:t>
            </a:r>
          </a:p>
          <a:p>
            <a:pPr algn="l" marL="582930" indent="-291465" lvl="1">
              <a:lnSpc>
                <a:spcPts val="3779"/>
              </a:lnSpc>
              <a:buFont typeface="Arial"/>
              <a:buChar char="•"/>
            </a:pPr>
            <a:r>
              <a:rPr lang="en-US" sz="2700">
                <a:solidFill>
                  <a:srgbClr val="FFFFFF"/>
                </a:solidFill>
                <a:latin typeface="Arimo"/>
                <a:ea typeface="Arimo"/>
                <a:cs typeface="Arimo"/>
                <a:sym typeface="Arimo"/>
              </a:rPr>
              <a:t>Identify crime hotspots using location and time.</a:t>
            </a:r>
          </a:p>
          <a:p>
            <a:pPr algn="l" marL="582930" indent="-291465" lvl="1">
              <a:lnSpc>
                <a:spcPts val="3779"/>
              </a:lnSpc>
              <a:buFont typeface="Arial"/>
              <a:buChar char="•"/>
            </a:pPr>
            <a:r>
              <a:rPr lang="en-US" sz="2700">
                <a:solidFill>
                  <a:srgbClr val="FFFFFF"/>
                </a:solidFill>
                <a:latin typeface="Arimo"/>
                <a:ea typeface="Arimo"/>
                <a:cs typeface="Arimo"/>
                <a:sym typeface="Arimo"/>
              </a:rPr>
              <a:t>Develop an interactive dashboard for visual storytelling</a:t>
            </a:r>
            <a:r>
              <a:rPr lang="en-US" b="true" sz="2700">
                <a:solidFill>
                  <a:srgbClr val="FFFFFF"/>
                </a:solidFill>
                <a:latin typeface="Arimo Bold"/>
                <a:ea typeface="Arimo Bold"/>
                <a:cs typeface="Arimo Bold"/>
                <a:sym typeface="Arimo Bold"/>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58500" y="1028700"/>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3029702"/>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01</a:t>
            </a:r>
          </a:p>
        </p:txBody>
      </p:sp>
      <p:sp>
        <p:nvSpPr>
          <p:cNvPr name="TextBox 8" id="8"/>
          <p:cNvSpPr txBox="true"/>
          <p:nvPr/>
        </p:nvSpPr>
        <p:spPr>
          <a:xfrm rot="0">
            <a:off x="879000" y="5386421"/>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02</a:t>
            </a:r>
          </a:p>
        </p:txBody>
      </p:sp>
      <p:sp>
        <p:nvSpPr>
          <p:cNvPr name="TextBox 9" id="9"/>
          <p:cNvSpPr txBox="true"/>
          <p:nvPr/>
        </p:nvSpPr>
        <p:spPr>
          <a:xfrm rot="0">
            <a:off x="710596" y="7743141"/>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03</a:t>
            </a:r>
          </a:p>
        </p:txBody>
      </p:sp>
      <p:sp>
        <p:nvSpPr>
          <p:cNvPr name="TextBox 10" id="10"/>
          <p:cNvSpPr txBox="true"/>
          <p:nvPr/>
        </p:nvSpPr>
        <p:spPr>
          <a:xfrm rot="0">
            <a:off x="9990349" y="3179975"/>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04</a:t>
            </a:r>
          </a:p>
        </p:txBody>
      </p:sp>
      <p:sp>
        <p:nvSpPr>
          <p:cNvPr name="TextBox 11" id="11"/>
          <p:cNvSpPr txBox="true"/>
          <p:nvPr/>
        </p:nvSpPr>
        <p:spPr>
          <a:xfrm rot="0">
            <a:off x="5585079" y="1387039"/>
            <a:ext cx="4418261" cy="1219838"/>
          </a:xfrm>
          <a:prstGeom prst="rect">
            <a:avLst/>
          </a:prstGeom>
        </p:spPr>
        <p:txBody>
          <a:bodyPr anchor="t" rtlCol="false" tIns="0" lIns="0" bIns="0" rIns="0">
            <a:spAutoFit/>
          </a:bodyPr>
          <a:lstStyle/>
          <a:p>
            <a:pPr algn="ctr">
              <a:lnSpc>
                <a:spcPts val="9939"/>
              </a:lnSpc>
              <a:spcBef>
                <a:spcPct val="0"/>
              </a:spcBef>
            </a:pPr>
            <a:r>
              <a:rPr lang="en-US" sz="7099">
                <a:solidFill>
                  <a:srgbClr val="FFFFFF"/>
                </a:solidFill>
                <a:latin typeface="Gagalin"/>
                <a:ea typeface="Gagalin"/>
                <a:cs typeface="Gagalin"/>
                <a:sym typeface="Gagalin"/>
              </a:rPr>
              <a:t>Objectives</a:t>
            </a:r>
          </a:p>
        </p:txBody>
      </p:sp>
      <p:sp>
        <p:nvSpPr>
          <p:cNvPr name="TextBox 12" id="12"/>
          <p:cNvSpPr txBox="true"/>
          <p:nvPr/>
        </p:nvSpPr>
        <p:spPr>
          <a:xfrm rot="0">
            <a:off x="2270880" y="3018050"/>
            <a:ext cx="3525348" cy="1436370"/>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Poppins"/>
                <a:ea typeface="Poppins"/>
                <a:cs typeface="Poppins"/>
                <a:sym typeface="Poppins"/>
              </a:rPr>
              <a:t>Understand crime distribution across Chicago.</a:t>
            </a:r>
          </a:p>
        </p:txBody>
      </p:sp>
      <p:sp>
        <p:nvSpPr>
          <p:cNvPr name="TextBox 13" id="13"/>
          <p:cNvSpPr txBox="true"/>
          <p:nvPr/>
        </p:nvSpPr>
        <p:spPr>
          <a:xfrm rot="0">
            <a:off x="2270880" y="5364847"/>
            <a:ext cx="3530141" cy="1436370"/>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Poppins"/>
                <a:ea typeface="Poppins"/>
                <a:cs typeface="Poppins"/>
                <a:sym typeface="Poppins"/>
              </a:rPr>
              <a:t>Clean and preprocess raw crime data.</a:t>
            </a:r>
          </a:p>
        </p:txBody>
      </p:sp>
      <p:sp>
        <p:nvSpPr>
          <p:cNvPr name="TextBox 14" id="14"/>
          <p:cNvSpPr txBox="true"/>
          <p:nvPr/>
        </p:nvSpPr>
        <p:spPr>
          <a:xfrm rot="0">
            <a:off x="2102476" y="7711644"/>
            <a:ext cx="4431703" cy="960120"/>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Poppins"/>
                <a:ea typeface="Poppins"/>
                <a:cs typeface="Poppins"/>
                <a:sym typeface="Poppins"/>
              </a:rPr>
              <a:t>Perform Exploratory Data Analysis (EDA).</a:t>
            </a:r>
          </a:p>
        </p:txBody>
      </p:sp>
      <p:sp>
        <p:nvSpPr>
          <p:cNvPr name="TextBox 15" id="15"/>
          <p:cNvSpPr txBox="true"/>
          <p:nvPr/>
        </p:nvSpPr>
        <p:spPr>
          <a:xfrm rot="0">
            <a:off x="11703402" y="3267605"/>
            <a:ext cx="3164002" cy="960120"/>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Poppins"/>
                <a:ea typeface="Poppins"/>
                <a:cs typeface="Poppins"/>
                <a:sym typeface="Poppins"/>
              </a:rPr>
              <a:t>Identify crime hotspots.</a:t>
            </a:r>
          </a:p>
        </p:txBody>
      </p:sp>
      <p:sp>
        <p:nvSpPr>
          <p:cNvPr name="TextBox 16" id="16"/>
          <p:cNvSpPr txBox="true"/>
          <p:nvPr/>
        </p:nvSpPr>
        <p:spPr>
          <a:xfrm rot="0">
            <a:off x="9990349" y="5510897"/>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05</a:t>
            </a:r>
          </a:p>
        </p:txBody>
      </p:sp>
      <p:sp>
        <p:nvSpPr>
          <p:cNvPr name="TextBox 17" id="17"/>
          <p:cNvSpPr txBox="true"/>
          <p:nvPr/>
        </p:nvSpPr>
        <p:spPr>
          <a:xfrm rot="0">
            <a:off x="11703402" y="5348972"/>
            <a:ext cx="3749774" cy="1436370"/>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Poppins"/>
                <a:ea typeface="Poppins"/>
                <a:cs typeface="Poppins"/>
                <a:sym typeface="Poppins"/>
              </a:rPr>
              <a:t>Apply PCA for dimensionality reduction.</a:t>
            </a:r>
          </a:p>
        </p:txBody>
      </p:sp>
      <p:sp>
        <p:nvSpPr>
          <p:cNvPr name="TextBox 18" id="18"/>
          <p:cNvSpPr txBox="true"/>
          <p:nvPr/>
        </p:nvSpPr>
        <p:spPr>
          <a:xfrm rot="0">
            <a:off x="9990349" y="8030414"/>
            <a:ext cx="1391880" cy="97663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Poppins Bold"/>
                <a:ea typeface="Poppins Bold"/>
                <a:cs typeface="Poppins Bold"/>
                <a:sym typeface="Poppins Bold"/>
              </a:rPr>
              <a:t>06</a:t>
            </a:r>
          </a:p>
        </p:txBody>
      </p:sp>
      <p:sp>
        <p:nvSpPr>
          <p:cNvPr name="TextBox 19" id="19"/>
          <p:cNvSpPr txBox="true"/>
          <p:nvPr/>
        </p:nvSpPr>
        <p:spPr>
          <a:xfrm rot="0">
            <a:off x="11703402" y="7868489"/>
            <a:ext cx="4672203" cy="1436370"/>
          </a:xfrm>
          <a:prstGeom prst="rect">
            <a:avLst/>
          </a:prstGeom>
        </p:spPr>
        <p:txBody>
          <a:bodyPr anchor="t" rtlCol="false" tIns="0" lIns="0" bIns="0" rIns="0">
            <a:spAutoFit/>
          </a:bodyPr>
          <a:lstStyle/>
          <a:p>
            <a:pPr algn="l">
              <a:lnSpc>
                <a:spcPts val="3779"/>
              </a:lnSpc>
              <a:spcBef>
                <a:spcPct val="0"/>
              </a:spcBef>
            </a:pPr>
            <a:r>
              <a:rPr lang="en-US" sz="2700">
                <a:solidFill>
                  <a:srgbClr val="FFFFFF"/>
                </a:solidFill>
                <a:latin typeface="Poppins"/>
                <a:ea typeface="Poppins"/>
                <a:cs typeface="Poppins"/>
                <a:sym typeface="Poppins"/>
              </a:rPr>
              <a:t>Develop an interactive crime analytics dashboard.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68484" y="8255873"/>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527676" y="188278"/>
            <a:ext cx="8537302" cy="1203313"/>
          </a:xfrm>
          <a:prstGeom prst="rect">
            <a:avLst/>
          </a:prstGeom>
        </p:spPr>
        <p:txBody>
          <a:bodyPr anchor="t" rtlCol="false" tIns="0" lIns="0" bIns="0" rIns="0">
            <a:spAutoFit/>
          </a:bodyPr>
          <a:lstStyle/>
          <a:p>
            <a:pPr algn="ctr">
              <a:lnSpc>
                <a:spcPts val="9800"/>
              </a:lnSpc>
            </a:pPr>
            <a:r>
              <a:rPr lang="en-US" sz="7000">
                <a:solidFill>
                  <a:srgbClr val="FFFFFF"/>
                </a:solidFill>
                <a:latin typeface="Gagalin"/>
                <a:ea typeface="Gagalin"/>
                <a:cs typeface="Gagalin"/>
                <a:sym typeface="Gagalin"/>
              </a:rPr>
              <a:t>Dataset Description:</a:t>
            </a:r>
            <a:r>
              <a:rPr lang="en-US" sz="7000">
                <a:solidFill>
                  <a:srgbClr val="FFFFFF"/>
                </a:solidFill>
                <a:latin typeface="Gagalin"/>
                <a:ea typeface="Gagalin"/>
                <a:cs typeface="Gagalin"/>
                <a:sym typeface="Gagalin"/>
              </a:rPr>
              <a:t> </a:t>
            </a:r>
          </a:p>
        </p:txBody>
      </p:sp>
      <p:sp>
        <p:nvSpPr>
          <p:cNvPr name="TextBox 8" id="8"/>
          <p:cNvSpPr txBox="true"/>
          <p:nvPr/>
        </p:nvSpPr>
        <p:spPr>
          <a:xfrm rot="0">
            <a:off x="1706285" y="2856389"/>
            <a:ext cx="7593427" cy="950595"/>
          </a:xfrm>
          <a:prstGeom prst="rect">
            <a:avLst/>
          </a:prstGeom>
        </p:spPr>
        <p:txBody>
          <a:bodyPr anchor="t" rtlCol="false" tIns="0" lIns="0" bIns="0" rIns="0">
            <a:spAutoFit/>
          </a:bodyPr>
          <a:lstStyle/>
          <a:p>
            <a:pPr algn="l">
              <a:lnSpc>
                <a:spcPts val="3779"/>
              </a:lnSpc>
              <a:spcBef>
                <a:spcPct val="0"/>
              </a:spcBef>
            </a:pPr>
            <a:r>
              <a:rPr lang="en-US" b="true" sz="2699" u="sng">
                <a:solidFill>
                  <a:srgbClr val="FFFFFF"/>
                </a:solidFill>
                <a:latin typeface="Arimo Bold"/>
                <a:ea typeface="Arimo Bold"/>
                <a:cs typeface="Arimo Bold"/>
                <a:sym typeface="Arimo Bold"/>
              </a:rPr>
              <a:t>Dataset Name: </a:t>
            </a:r>
          </a:p>
          <a:p>
            <a:pPr algn="l">
              <a:lnSpc>
                <a:spcPts val="3779"/>
              </a:lnSpc>
              <a:spcBef>
                <a:spcPct val="0"/>
              </a:spcBef>
            </a:pPr>
            <a:r>
              <a:rPr lang="en-US" sz="2699">
                <a:solidFill>
                  <a:srgbClr val="FFFFFF"/>
                </a:solidFill>
                <a:latin typeface="Arimo"/>
                <a:ea typeface="Arimo"/>
                <a:cs typeface="Arimo"/>
                <a:sym typeface="Arimo"/>
              </a:rPr>
              <a:t>Crime Incidents (2001–Present)</a:t>
            </a:r>
          </a:p>
        </p:txBody>
      </p:sp>
      <p:sp>
        <p:nvSpPr>
          <p:cNvPr name="TextBox 9" id="9"/>
          <p:cNvSpPr txBox="true"/>
          <p:nvPr/>
        </p:nvSpPr>
        <p:spPr>
          <a:xfrm rot="0">
            <a:off x="1646205" y="3921284"/>
            <a:ext cx="3856794" cy="441325"/>
          </a:xfrm>
          <a:prstGeom prst="rect">
            <a:avLst/>
          </a:prstGeom>
        </p:spPr>
        <p:txBody>
          <a:bodyPr anchor="t" rtlCol="false" tIns="0" lIns="0" bIns="0" rIns="0">
            <a:spAutoFit/>
          </a:bodyPr>
          <a:lstStyle/>
          <a:p>
            <a:pPr algn="l">
              <a:lnSpc>
                <a:spcPts val="3499"/>
              </a:lnSpc>
              <a:spcBef>
                <a:spcPct val="0"/>
              </a:spcBef>
            </a:pPr>
            <a:r>
              <a:rPr lang="en-US" b="true" sz="2499">
                <a:solidFill>
                  <a:srgbClr val="FFFFFF"/>
                </a:solidFill>
                <a:latin typeface="Poppins Bold"/>
                <a:ea typeface="Poppins Bold"/>
                <a:cs typeface="Poppins Bold"/>
                <a:sym typeface="Poppins Bold"/>
              </a:rPr>
              <a:t>S</a:t>
            </a:r>
            <a:r>
              <a:rPr lang="en-US" b="true" sz="2499" u="sng">
                <a:solidFill>
                  <a:srgbClr val="FFFFFF"/>
                </a:solidFill>
                <a:latin typeface="Poppins Bold"/>
                <a:ea typeface="Poppins Bold"/>
                <a:cs typeface="Poppins Bold"/>
                <a:sym typeface="Poppins Bold"/>
              </a:rPr>
              <a:t>ource:</a:t>
            </a:r>
            <a:r>
              <a:rPr lang="en-US" b="true" sz="2499">
                <a:solidFill>
                  <a:srgbClr val="FFFFFF"/>
                </a:solidFill>
                <a:latin typeface="Poppins Bold"/>
                <a:ea typeface="Poppins Bold"/>
                <a:cs typeface="Poppins Bold"/>
                <a:sym typeface="Poppins Bold"/>
              </a:rPr>
              <a:t>  </a:t>
            </a:r>
            <a:r>
              <a:rPr lang="en-US" sz="2499">
                <a:solidFill>
                  <a:srgbClr val="FFFFFF"/>
                </a:solidFill>
                <a:latin typeface="Poppins"/>
                <a:ea typeface="Poppins"/>
                <a:cs typeface="Poppins"/>
                <a:sym typeface="Poppins"/>
              </a:rPr>
              <a:t>Kaggle</a:t>
            </a:r>
          </a:p>
        </p:txBody>
      </p:sp>
      <p:sp>
        <p:nvSpPr>
          <p:cNvPr name="TextBox 10" id="10"/>
          <p:cNvSpPr txBox="true"/>
          <p:nvPr/>
        </p:nvSpPr>
        <p:spPr>
          <a:xfrm rot="0">
            <a:off x="10306059" y="3333857"/>
            <a:ext cx="3856697" cy="6137275"/>
          </a:xfrm>
          <a:prstGeom prst="rect">
            <a:avLst/>
          </a:prstGeom>
        </p:spPr>
        <p:txBody>
          <a:bodyPr anchor="t" rtlCol="false" tIns="0" lIns="0" bIns="0" rIns="0">
            <a:spAutoFit/>
          </a:bodyPr>
          <a:lstStyle/>
          <a:p>
            <a:pPr algn="l">
              <a:lnSpc>
                <a:spcPts val="3500"/>
              </a:lnSpc>
            </a:pPr>
          </a:p>
          <a:p>
            <a:pPr algn="l" marL="539751" indent="-269876" lvl="1">
              <a:lnSpc>
                <a:spcPts val="3500"/>
              </a:lnSpc>
              <a:buFont typeface="Arial"/>
              <a:buChar char="•"/>
            </a:pPr>
            <a:r>
              <a:rPr lang="en-US" sz="2500">
                <a:solidFill>
                  <a:srgbClr val="FFFFFF"/>
                </a:solidFill>
                <a:latin typeface="Arimo"/>
                <a:ea typeface="Arimo"/>
                <a:cs typeface="Arimo"/>
                <a:sym typeface="Arimo"/>
              </a:rPr>
              <a:t>Crime Type</a:t>
            </a:r>
          </a:p>
          <a:p>
            <a:pPr algn="l" marL="539751" indent="-269876" lvl="1">
              <a:lnSpc>
                <a:spcPts val="3500"/>
              </a:lnSpc>
              <a:buFont typeface="Arial"/>
              <a:buChar char="•"/>
            </a:pPr>
            <a:r>
              <a:rPr lang="en-US" sz="2500">
                <a:solidFill>
                  <a:srgbClr val="FFFFFF"/>
                </a:solidFill>
                <a:latin typeface="Arimo"/>
                <a:ea typeface="Arimo"/>
                <a:cs typeface="Arimo"/>
                <a:sym typeface="Arimo"/>
              </a:rPr>
              <a:t>Description</a:t>
            </a:r>
          </a:p>
          <a:p>
            <a:pPr algn="l" marL="539751" indent="-269876" lvl="1">
              <a:lnSpc>
                <a:spcPts val="3500"/>
              </a:lnSpc>
              <a:buFont typeface="Arial"/>
              <a:buChar char="•"/>
            </a:pPr>
            <a:r>
              <a:rPr lang="en-US" sz="2500">
                <a:solidFill>
                  <a:srgbClr val="FFFFFF"/>
                </a:solidFill>
                <a:latin typeface="Arimo"/>
                <a:ea typeface="Arimo"/>
                <a:cs typeface="Arimo"/>
                <a:sym typeface="Arimo"/>
              </a:rPr>
              <a:t>Date &amp; Time</a:t>
            </a:r>
          </a:p>
          <a:p>
            <a:pPr algn="l" marL="539751" indent="-269876" lvl="1">
              <a:lnSpc>
                <a:spcPts val="3500"/>
              </a:lnSpc>
              <a:buFont typeface="Arial"/>
              <a:buChar char="•"/>
            </a:pPr>
            <a:r>
              <a:rPr lang="en-US" sz="2500">
                <a:solidFill>
                  <a:srgbClr val="FFFFFF"/>
                </a:solidFill>
                <a:latin typeface="Arimo"/>
                <a:ea typeface="Arimo"/>
                <a:cs typeface="Arimo"/>
                <a:sym typeface="Arimo"/>
              </a:rPr>
              <a:t>Block</a:t>
            </a:r>
          </a:p>
          <a:p>
            <a:pPr algn="l" marL="539751" indent="-269876" lvl="1">
              <a:lnSpc>
                <a:spcPts val="3500"/>
              </a:lnSpc>
              <a:buFont typeface="Arial"/>
              <a:buChar char="•"/>
            </a:pPr>
            <a:r>
              <a:rPr lang="en-US" sz="2500">
                <a:solidFill>
                  <a:srgbClr val="FFFFFF"/>
                </a:solidFill>
                <a:latin typeface="Arimo"/>
                <a:ea typeface="Arimo"/>
                <a:cs typeface="Arimo"/>
                <a:sym typeface="Arimo"/>
              </a:rPr>
              <a:t>District</a:t>
            </a:r>
          </a:p>
          <a:p>
            <a:pPr algn="l" marL="539751" indent="-269876" lvl="1">
              <a:lnSpc>
                <a:spcPts val="3500"/>
              </a:lnSpc>
              <a:buFont typeface="Arial"/>
              <a:buChar char="•"/>
            </a:pPr>
            <a:r>
              <a:rPr lang="en-US" sz="2500">
                <a:solidFill>
                  <a:srgbClr val="FFFFFF"/>
                </a:solidFill>
                <a:latin typeface="Arimo"/>
                <a:ea typeface="Arimo"/>
                <a:cs typeface="Arimo"/>
                <a:sym typeface="Arimo"/>
              </a:rPr>
              <a:t>Community Area</a:t>
            </a:r>
          </a:p>
          <a:p>
            <a:pPr algn="l" marL="539751" indent="-269876" lvl="1">
              <a:lnSpc>
                <a:spcPts val="3500"/>
              </a:lnSpc>
              <a:buFont typeface="Arial"/>
              <a:buChar char="•"/>
            </a:pPr>
            <a:r>
              <a:rPr lang="en-US" sz="2500">
                <a:solidFill>
                  <a:srgbClr val="FFFFFF"/>
                </a:solidFill>
                <a:latin typeface="Arimo"/>
                <a:ea typeface="Arimo"/>
                <a:cs typeface="Arimo"/>
                <a:sym typeface="Arimo"/>
              </a:rPr>
              <a:t>Arrest Status</a:t>
            </a:r>
          </a:p>
          <a:p>
            <a:pPr algn="l" marL="539751" indent="-269876" lvl="1">
              <a:lnSpc>
                <a:spcPts val="3500"/>
              </a:lnSpc>
              <a:buFont typeface="Arial"/>
              <a:buChar char="•"/>
            </a:pPr>
            <a:r>
              <a:rPr lang="en-US" sz="2500">
                <a:solidFill>
                  <a:srgbClr val="FFFFFF"/>
                </a:solidFill>
                <a:latin typeface="Arimo"/>
                <a:ea typeface="Arimo"/>
                <a:cs typeface="Arimo"/>
                <a:sym typeface="Arimo"/>
              </a:rPr>
              <a:t>Domestic Crime Indicator</a:t>
            </a:r>
          </a:p>
          <a:p>
            <a:pPr algn="l" marL="539751" indent="-269876" lvl="1">
              <a:lnSpc>
                <a:spcPts val="3500"/>
              </a:lnSpc>
              <a:buFont typeface="Arial"/>
              <a:buChar char="•"/>
            </a:pPr>
            <a:r>
              <a:rPr lang="en-US" sz="2500">
                <a:solidFill>
                  <a:srgbClr val="FFFFFF"/>
                </a:solidFill>
                <a:latin typeface="Arimo"/>
                <a:ea typeface="Arimo"/>
                <a:cs typeface="Arimo"/>
                <a:sym typeface="Arimo"/>
              </a:rPr>
              <a:t>Latitude</a:t>
            </a:r>
          </a:p>
          <a:p>
            <a:pPr algn="l" marL="539751" indent="-269876" lvl="1">
              <a:lnSpc>
                <a:spcPts val="3500"/>
              </a:lnSpc>
              <a:buFont typeface="Arial"/>
              <a:buChar char="•"/>
            </a:pPr>
            <a:r>
              <a:rPr lang="en-US" sz="2500">
                <a:solidFill>
                  <a:srgbClr val="FFFFFF"/>
                </a:solidFill>
                <a:latin typeface="Arimo"/>
                <a:ea typeface="Arimo"/>
                <a:cs typeface="Arimo"/>
                <a:sym typeface="Arimo"/>
              </a:rPr>
              <a:t>Longitude</a:t>
            </a:r>
          </a:p>
          <a:p>
            <a:pPr algn="l" marL="539751" indent="-269876" lvl="1">
              <a:lnSpc>
                <a:spcPts val="3500"/>
              </a:lnSpc>
              <a:buFont typeface="Arial"/>
              <a:buChar char="•"/>
            </a:pPr>
            <a:r>
              <a:rPr lang="en-US" sz="2500">
                <a:solidFill>
                  <a:srgbClr val="FFFFFF"/>
                </a:solidFill>
                <a:latin typeface="Arimo"/>
                <a:ea typeface="Arimo"/>
                <a:cs typeface="Arimo"/>
                <a:sym typeface="Arimo"/>
              </a:rPr>
              <a:t>Year</a:t>
            </a:r>
          </a:p>
          <a:p>
            <a:pPr algn="l" marL="539751" indent="-269876" lvl="1">
              <a:lnSpc>
                <a:spcPts val="3500"/>
              </a:lnSpc>
              <a:buFont typeface="Arial"/>
              <a:buChar char="•"/>
            </a:pPr>
            <a:r>
              <a:rPr lang="en-US" sz="2500">
                <a:solidFill>
                  <a:srgbClr val="FFFFFF"/>
                </a:solidFill>
                <a:latin typeface="Arimo"/>
                <a:ea typeface="Arimo"/>
                <a:cs typeface="Arimo"/>
                <a:sym typeface="Arimo"/>
              </a:rPr>
              <a:t>Location</a:t>
            </a:r>
          </a:p>
        </p:txBody>
      </p:sp>
      <p:sp>
        <p:nvSpPr>
          <p:cNvPr name="TextBox 11" id="11"/>
          <p:cNvSpPr txBox="true"/>
          <p:nvPr/>
        </p:nvSpPr>
        <p:spPr>
          <a:xfrm rot="0">
            <a:off x="10128672" y="2971127"/>
            <a:ext cx="4211472" cy="441325"/>
          </a:xfrm>
          <a:prstGeom prst="rect">
            <a:avLst/>
          </a:prstGeom>
        </p:spPr>
        <p:txBody>
          <a:bodyPr anchor="t" rtlCol="false" tIns="0" lIns="0" bIns="0" rIns="0">
            <a:spAutoFit/>
          </a:bodyPr>
          <a:lstStyle/>
          <a:p>
            <a:pPr algn="ctr">
              <a:lnSpc>
                <a:spcPts val="3499"/>
              </a:lnSpc>
              <a:spcBef>
                <a:spcPct val="0"/>
              </a:spcBef>
            </a:pPr>
            <a:r>
              <a:rPr lang="en-US" b="true" sz="2499" u="sng">
                <a:solidFill>
                  <a:srgbClr val="FFFFFF"/>
                </a:solidFill>
                <a:latin typeface="Poppins Bold"/>
                <a:ea typeface="Poppins Bold"/>
                <a:cs typeface="Poppins Bold"/>
                <a:sym typeface="Poppins Bold"/>
              </a:rPr>
              <a:t>Dataset Constrains:</a:t>
            </a:r>
          </a:p>
        </p:txBody>
      </p:sp>
      <p:sp>
        <p:nvSpPr>
          <p:cNvPr name="TextBox 12" id="12"/>
          <p:cNvSpPr txBox="true"/>
          <p:nvPr/>
        </p:nvSpPr>
        <p:spPr>
          <a:xfrm rot="0">
            <a:off x="1646205" y="4736572"/>
            <a:ext cx="5194697" cy="3331845"/>
          </a:xfrm>
          <a:prstGeom prst="rect">
            <a:avLst/>
          </a:prstGeom>
        </p:spPr>
        <p:txBody>
          <a:bodyPr anchor="t" rtlCol="false" tIns="0" lIns="0" bIns="0" rIns="0">
            <a:spAutoFit/>
          </a:bodyPr>
          <a:lstStyle/>
          <a:p>
            <a:pPr algn="l">
              <a:lnSpc>
                <a:spcPts val="3779"/>
              </a:lnSpc>
              <a:spcBef>
                <a:spcPct val="0"/>
              </a:spcBef>
            </a:pPr>
            <a:r>
              <a:rPr lang="en-US" b="true" sz="2699" u="sng">
                <a:solidFill>
                  <a:srgbClr val="FFFFFF"/>
                </a:solidFill>
                <a:latin typeface="Arimo Bold"/>
                <a:ea typeface="Arimo Bold"/>
                <a:cs typeface="Arimo Bold"/>
                <a:sym typeface="Arimo Bold"/>
              </a:rPr>
              <a:t>Dataset Characteristics:</a:t>
            </a:r>
          </a:p>
          <a:p>
            <a:pPr algn="l">
              <a:lnSpc>
                <a:spcPts val="3779"/>
              </a:lnSpc>
              <a:spcBef>
                <a:spcPct val="0"/>
              </a:spcBef>
            </a:pPr>
          </a:p>
          <a:p>
            <a:pPr algn="l" marL="582928" indent="-291464" lvl="1">
              <a:lnSpc>
                <a:spcPts val="3779"/>
              </a:lnSpc>
              <a:buFont typeface="Arial"/>
              <a:buChar char="•"/>
            </a:pPr>
            <a:r>
              <a:rPr lang="en-US" sz="2699">
                <a:solidFill>
                  <a:srgbClr val="FFFFFF"/>
                </a:solidFill>
                <a:latin typeface="Arimo"/>
                <a:ea typeface="Arimo"/>
                <a:cs typeface="Arimo"/>
                <a:sym typeface="Arimo"/>
              </a:rPr>
              <a:t>Large-scale real-world dataset</a:t>
            </a:r>
          </a:p>
          <a:p>
            <a:pPr algn="l" marL="582928" indent="-291464" lvl="1">
              <a:lnSpc>
                <a:spcPts val="3779"/>
              </a:lnSpc>
              <a:buFont typeface="Arial"/>
              <a:buChar char="•"/>
            </a:pPr>
            <a:r>
              <a:rPr lang="en-US" sz="2699">
                <a:solidFill>
                  <a:srgbClr val="FFFFFF"/>
                </a:solidFill>
                <a:latin typeface="Arimo"/>
                <a:ea typeface="Arimo"/>
                <a:cs typeface="Arimo"/>
                <a:sym typeface="Arimo"/>
              </a:rPr>
              <a:t>Raw and unclean</a:t>
            </a:r>
          </a:p>
          <a:p>
            <a:pPr algn="l" marL="582928" indent="-291464" lvl="1">
              <a:lnSpc>
                <a:spcPts val="3779"/>
              </a:lnSpc>
              <a:buFont typeface="Arial"/>
              <a:buChar char="•"/>
            </a:pPr>
            <a:r>
              <a:rPr lang="en-US" sz="2699">
                <a:solidFill>
                  <a:srgbClr val="FFFFFF"/>
                </a:solidFill>
                <a:latin typeface="Arimo"/>
                <a:ea typeface="Arimo"/>
                <a:cs typeface="Arimo"/>
                <a:sym typeface="Arimo"/>
              </a:rPr>
              <a:t>Missing values</a:t>
            </a:r>
          </a:p>
          <a:p>
            <a:pPr algn="l" marL="582928" indent="-291464" lvl="1">
              <a:lnSpc>
                <a:spcPts val="3779"/>
              </a:lnSpc>
              <a:buFont typeface="Arial"/>
              <a:buChar char="•"/>
            </a:pPr>
            <a:r>
              <a:rPr lang="en-US" sz="2699">
                <a:solidFill>
                  <a:srgbClr val="FFFFFF"/>
                </a:solidFill>
                <a:latin typeface="Arimo"/>
                <a:ea typeface="Arimo"/>
                <a:cs typeface="Arimo"/>
                <a:sym typeface="Arimo"/>
              </a:rPr>
              <a:t>Duplicate records</a:t>
            </a:r>
          </a:p>
          <a:p>
            <a:pPr algn="l" marL="582928" indent="-291464" lvl="1">
              <a:lnSpc>
                <a:spcPts val="3779"/>
              </a:lnSpc>
              <a:buFont typeface="Arial"/>
              <a:buChar char="•"/>
            </a:pPr>
            <a:r>
              <a:rPr lang="en-US" sz="2699">
                <a:solidFill>
                  <a:srgbClr val="FFFFFF"/>
                </a:solidFill>
                <a:latin typeface="Arimo"/>
                <a:ea typeface="Arimo"/>
                <a:cs typeface="Arimo"/>
                <a:sym typeface="Arimo"/>
              </a:rPr>
              <a:t>Geographic information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2255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1079804"/>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433664" y="660444"/>
            <a:ext cx="11134353" cy="1193800"/>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Gagalin"/>
                <a:ea typeface="Gagalin"/>
                <a:cs typeface="Gagalin"/>
                <a:sym typeface="Gagalin"/>
              </a:rPr>
              <a:t>Tools and Technology Used:</a:t>
            </a:r>
          </a:p>
        </p:txBody>
      </p:sp>
      <p:sp>
        <p:nvSpPr>
          <p:cNvPr name="TextBox 8" id="8"/>
          <p:cNvSpPr txBox="true"/>
          <p:nvPr/>
        </p:nvSpPr>
        <p:spPr>
          <a:xfrm rot="0">
            <a:off x="3384474" y="2600293"/>
            <a:ext cx="1497881" cy="464820"/>
          </a:xfrm>
          <a:prstGeom prst="rect">
            <a:avLst/>
          </a:prstGeom>
        </p:spPr>
        <p:txBody>
          <a:bodyPr anchor="t" rtlCol="false" tIns="0" lIns="0" bIns="0" rIns="0">
            <a:spAutoFit/>
          </a:bodyPr>
          <a:lstStyle/>
          <a:p>
            <a:pPr algn="ctr">
              <a:lnSpc>
                <a:spcPts val="3780"/>
              </a:lnSpc>
            </a:pPr>
            <a:r>
              <a:rPr lang="en-US" sz="2700">
                <a:solidFill>
                  <a:srgbClr val="FFFFFF"/>
                </a:solidFill>
                <a:latin typeface="Canva Sans"/>
                <a:ea typeface="Canva Sans"/>
                <a:cs typeface="Canva Sans"/>
                <a:sym typeface="Canva Sans"/>
              </a:rPr>
              <a:t>Category</a:t>
            </a:r>
          </a:p>
        </p:txBody>
      </p:sp>
      <p:sp>
        <p:nvSpPr>
          <p:cNvPr name="TextBox 9" id="9"/>
          <p:cNvSpPr txBox="true"/>
          <p:nvPr/>
        </p:nvSpPr>
        <p:spPr>
          <a:xfrm rot="0">
            <a:off x="13347357" y="2322163"/>
            <a:ext cx="714598" cy="464818"/>
          </a:xfrm>
          <a:prstGeom prst="rect">
            <a:avLst/>
          </a:prstGeom>
        </p:spPr>
        <p:txBody>
          <a:bodyPr anchor="t" rtlCol="false" tIns="0" lIns="0" bIns="0" rIns="0">
            <a:spAutoFit/>
          </a:bodyPr>
          <a:lstStyle/>
          <a:p>
            <a:pPr algn="ctr">
              <a:lnSpc>
                <a:spcPts val="3780"/>
              </a:lnSpc>
            </a:pPr>
            <a:r>
              <a:rPr lang="en-US" sz="2700" b="true">
                <a:solidFill>
                  <a:srgbClr val="FFFFFF"/>
                </a:solidFill>
                <a:latin typeface="Canva Sans Bold"/>
                <a:ea typeface="Canva Sans Bold"/>
                <a:cs typeface="Canva Sans Bold"/>
                <a:sym typeface="Canva Sans Bold"/>
              </a:rPr>
              <a:t>Tool</a:t>
            </a:r>
          </a:p>
        </p:txBody>
      </p:sp>
      <p:sp>
        <p:nvSpPr>
          <p:cNvPr name="AutoShape 10" id="10"/>
          <p:cNvSpPr/>
          <p:nvPr/>
        </p:nvSpPr>
        <p:spPr>
          <a:xfrm>
            <a:off x="429295" y="3384682"/>
            <a:ext cx="17442393" cy="0"/>
          </a:xfrm>
          <a:prstGeom prst="line">
            <a:avLst/>
          </a:prstGeom>
          <a:ln cap="flat" w="38100">
            <a:solidFill>
              <a:srgbClr val="FFFFFF"/>
            </a:solidFill>
            <a:prstDash val="solid"/>
            <a:headEnd type="none" len="sm" w="sm"/>
            <a:tailEnd type="none" len="sm" w="sm"/>
          </a:ln>
        </p:spPr>
      </p:sp>
      <p:sp>
        <p:nvSpPr>
          <p:cNvPr name="AutoShape 11" id="11"/>
          <p:cNvSpPr/>
          <p:nvPr/>
        </p:nvSpPr>
        <p:spPr>
          <a:xfrm flipV="true">
            <a:off x="9144000" y="2379313"/>
            <a:ext cx="0" cy="6878987"/>
          </a:xfrm>
          <a:prstGeom prst="line">
            <a:avLst/>
          </a:prstGeom>
          <a:ln cap="flat" w="38100">
            <a:solidFill>
              <a:srgbClr val="FFFFFF"/>
            </a:solidFill>
            <a:prstDash val="solid"/>
            <a:headEnd type="none" len="sm" w="sm"/>
            <a:tailEnd type="none" len="sm" w="sm"/>
          </a:ln>
        </p:spPr>
      </p:sp>
      <p:sp>
        <p:nvSpPr>
          <p:cNvPr name="TextBox 12" id="12"/>
          <p:cNvSpPr txBox="true"/>
          <p:nvPr/>
        </p:nvSpPr>
        <p:spPr>
          <a:xfrm rot="0">
            <a:off x="1762524" y="3651382"/>
            <a:ext cx="6762351" cy="6141867"/>
          </a:xfrm>
          <a:prstGeom prst="rect">
            <a:avLst/>
          </a:prstGeom>
        </p:spPr>
        <p:txBody>
          <a:bodyPr anchor="t" rtlCol="false" tIns="0" lIns="0" bIns="0" rIns="0">
            <a:spAutoFit/>
          </a:bodyPr>
          <a:lstStyle/>
          <a:p>
            <a:pPr algn="l" marL="500716" indent="-250358" lvl="1">
              <a:lnSpc>
                <a:spcPts val="3246"/>
              </a:lnSpc>
              <a:buFont typeface="Arial"/>
              <a:buChar char="•"/>
            </a:pPr>
            <a:r>
              <a:rPr lang="en-US" sz="2319">
                <a:solidFill>
                  <a:srgbClr val="FFFFFF"/>
                </a:solidFill>
                <a:latin typeface="Poppins"/>
                <a:ea typeface="Poppins"/>
                <a:cs typeface="Poppins"/>
                <a:sym typeface="Poppins"/>
              </a:rPr>
              <a:t>Programming Language   </a:t>
            </a:r>
          </a:p>
          <a:p>
            <a:pPr algn="l">
              <a:lnSpc>
                <a:spcPts val="3246"/>
              </a:lnSpc>
            </a:pPr>
            <a:r>
              <a:rPr lang="en-US" sz="2319">
                <a:solidFill>
                  <a:srgbClr val="FFFFFF"/>
                </a:solidFill>
                <a:latin typeface="Poppins"/>
                <a:ea typeface="Poppins"/>
                <a:cs typeface="Poppins"/>
                <a:sym typeface="Poppins"/>
              </a:rPr>
              <a:t>                                                                                                                                </a:t>
            </a:r>
          </a:p>
          <a:p>
            <a:pPr algn="l" marL="500716" indent="-250358" lvl="1">
              <a:lnSpc>
                <a:spcPts val="3246"/>
              </a:lnSpc>
              <a:buFont typeface="Arial"/>
              <a:buChar char="•"/>
            </a:pPr>
            <a:r>
              <a:rPr lang="en-US" sz="2319">
                <a:solidFill>
                  <a:srgbClr val="FFFFFF"/>
                </a:solidFill>
                <a:latin typeface="Poppins"/>
                <a:ea typeface="Poppins"/>
                <a:cs typeface="Poppins"/>
                <a:sym typeface="Poppins"/>
              </a:rPr>
              <a:t>Development Environment</a:t>
            </a:r>
          </a:p>
          <a:p>
            <a:pPr algn="l">
              <a:lnSpc>
                <a:spcPts val="3246"/>
              </a:lnSpc>
            </a:pPr>
          </a:p>
          <a:p>
            <a:pPr algn="l" marL="500716" indent="-250358" lvl="1">
              <a:lnSpc>
                <a:spcPts val="3246"/>
              </a:lnSpc>
              <a:buFont typeface="Arial"/>
              <a:buChar char="•"/>
            </a:pPr>
            <a:r>
              <a:rPr lang="en-US" sz="2319">
                <a:solidFill>
                  <a:srgbClr val="FFFFFF"/>
                </a:solidFill>
                <a:latin typeface="Poppins"/>
                <a:ea typeface="Poppins"/>
                <a:cs typeface="Poppins"/>
                <a:sym typeface="Poppins"/>
              </a:rPr>
              <a:t>Data Processing</a:t>
            </a:r>
          </a:p>
          <a:p>
            <a:pPr algn="l">
              <a:lnSpc>
                <a:spcPts val="3246"/>
              </a:lnSpc>
            </a:pPr>
          </a:p>
          <a:p>
            <a:pPr algn="l" marL="500716" indent="-250358" lvl="1">
              <a:lnSpc>
                <a:spcPts val="3246"/>
              </a:lnSpc>
              <a:buFont typeface="Arial"/>
              <a:buChar char="•"/>
            </a:pPr>
            <a:r>
              <a:rPr lang="en-US" sz="2319">
                <a:solidFill>
                  <a:srgbClr val="FFFFFF"/>
                </a:solidFill>
                <a:latin typeface="Poppins"/>
                <a:ea typeface="Poppins"/>
                <a:cs typeface="Poppins"/>
                <a:sym typeface="Poppins"/>
              </a:rPr>
              <a:t>Data Visualization</a:t>
            </a:r>
          </a:p>
          <a:p>
            <a:pPr algn="l">
              <a:lnSpc>
                <a:spcPts val="3246"/>
              </a:lnSpc>
            </a:pPr>
          </a:p>
          <a:p>
            <a:pPr algn="l" marL="500716" indent="-250358" lvl="1">
              <a:lnSpc>
                <a:spcPts val="3246"/>
              </a:lnSpc>
              <a:buFont typeface="Arial"/>
              <a:buChar char="•"/>
            </a:pPr>
            <a:r>
              <a:rPr lang="en-US" sz="2319">
                <a:solidFill>
                  <a:srgbClr val="FFFFFF"/>
                </a:solidFill>
                <a:latin typeface="Poppins"/>
                <a:ea typeface="Poppins"/>
                <a:cs typeface="Poppins"/>
                <a:sym typeface="Poppins"/>
              </a:rPr>
              <a:t>Interactive Visualization</a:t>
            </a:r>
          </a:p>
          <a:p>
            <a:pPr algn="l">
              <a:lnSpc>
                <a:spcPts val="3246"/>
              </a:lnSpc>
            </a:pPr>
          </a:p>
          <a:p>
            <a:pPr algn="l" marL="500716" indent="-250358" lvl="1">
              <a:lnSpc>
                <a:spcPts val="3246"/>
              </a:lnSpc>
              <a:buFont typeface="Arial"/>
              <a:buChar char="•"/>
            </a:pPr>
            <a:r>
              <a:rPr lang="en-US" sz="2319">
                <a:solidFill>
                  <a:srgbClr val="FFFFFF"/>
                </a:solidFill>
                <a:latin typeface="Poppins"/>
                <a:ea typeface="Poppins"/>
                <a:cs typeface="Poppins"/>
                <a:sym typeface="Poppins"/>
              </a:rPr>
              <a:t>Machine Learning</a:t>
            </a:r>
          </a:p>
          <a:p>
            <a:pPr algn="l">
              <a:lnSpc>
                <a:spcPts val="3246"/>
              </a:lnSpc>
            </a:pPr>
          </a:p>
          <a:p>
            <a:pPr algn="l" marL="500716" indent="-250358" lvl="1">
              <a:lnSpc>
                <a:spcPts val="3246"/>
              </a:lnSpc>
              <a:buFont typeface="Arial"/>
              <a:buChar char="•"/>
            </a:pPr>
            <a:r>
              <a:rPr lang="en-US" sz="2319">
                <a:solidFill>
                  <a:srgbClr val="FFFFFF"/>
                </a:solidFill>
                <a:latin typeface="Poppins"/>
                <a:ea typeface="Poppins"/>
                <a:cs typeface="Poppins"/>
                <a:sym typeface="Poppins"/>
              </a:rPr>
              <a:t>Dashboard Development</a:t>
            </a:r>
          </a:p>
          <a:p>
            <a:pPr algn="l">
              <a:lnSpc>
                <a:spcPts val="3246"/>
              </a:lnSpc>
            </a:pPr>
          </a:p>
          <a:p>
            <a:pPr algn="l" marL="500716" indent="-250358" lvl="1">
              <a:lnSpc>
                <a:spcPts val="3246"/>
              </a:lnSpc>
              <a:buFont typeface="Arial"/>
              <a:buChar char="•"/>
            </a:pPr>
            <a:r>
              <a:rPr lang="en-US" sz="2319">
                <a:solidFill>
                  <a:srgbClr val="FFFFFF"/>
                </a:solidFill>
                <a:latin typeface="Poppins"/>
                <a:ea typeface="Poppins"/>
                <a:cs typeface="Poppins"/>
                <a:sym typeface="Poppins"/>
              </a:rPr>
              <a:t>version control</a:t>
            </a:r>
          </a:p>
        </p:txBody>
      </p:sp>
      <p:sp>
        <p:nvSpPr>
          <p:cNvPr name="TextBox 13" id="13"/>
          <p:cNvSpPr txBox="true"/>
          <p:nvPr/>
        </p:nvSpPr>
        <p:spPr>
          <a:xfrm rot="0">
            <a:off x="9764925" y="3641857"/>
            <a:ext cx="7686183" cy="7476635"/>
          </a:xfrm>
          <a:prstGeom prst="rect">
            <a:avLst/>
          </a:prstGeom>
        </p:spPr>
        <p:txBody>
          <a:bodyPr anchor="t" rtlCol="false" tIns="0" lIns="0" bIns="0" rIns="0">
            <a:spAutoFit/>
          </a:bodyPr>
          <a:lstStyle/>
          <a:p>
            <a:pPr algn="l">
              <a:lnSpc>
                <a:spcPts val="3247"/>
              </a:lnSpc>
            </a:pPr>
            <a:r>
              <a:rPr lang="en-US" sz="2319">
                <a:solidFill>
                  <a:srgbClr val="FFFFFF"/>
                </a:solidFill>
                <a:latin typeface="Poppins"/>
                <a:ea typeface="Poppins"/>
                <a:cs typeface="Poppins"/>
                <a:sym typeface="Poppins"/>
              </a:rPr>
              <a:t>Python </a:t>
            </a:r>
          </a:p>
          <a:p>
            <a:pPr algn="l">
              <a:lnSpc>
                <a:spcPts val="3247"/>
              </a:lnSpc>
            </a:pPr>
          </a:p>
          <a:p>
            <a:pPr algn="l">
              <a:lnSpc>
                <a:spcPts val="3247"/>
              </a:lnSpc>
            </a:pPr>
            <a:r>
              <a:rPr lang="en-US" sz="2319">
                <a:solidFill>
                  <a:srgbClr val="FFFFFF"/>
                </a:solidFill>
                <a:latin typeface="Poppins"/>
                <a:ea typeface="Poppins"/>
                <a:cs typeface="Poppins"/>
                <a:sym typeface="Poppins"/>
              </a:rPr>
              <a:t>Jupyter  Notebook</a:t>
            </a:r>
          </a:p>
          <a:p>
            <a:pPr algn="l">
              <a:lnSpc>
                <a:spcPts val="3247"/>
              </a:lnSpc>
            </a:pPr>
          </a:p>
          <a:p>
            <a:pPr algn="l">
              <a:lnSpc>
                <a:spcPts val="3247"/>
              </a:lnSpc>
            </a:pPr>
            <a:r>
              <a:rPr lang="en-US" sz="2319">
                <a:solidFill>
                  <a:srgbClr val="FFFFFF"/>
                </a:solidFill>
                <a:latin typeface="Poppins"/>
                <a:ea typeface="Poppins"/>
                <a:cs typeface="Poppins"/>
                <a:sym typeface="Poppins"/>
              </a:rPr>
              <a:t>Pandas,Numpy</a:t>
            </a:r>
          </a:p>
          <a:p>
            <a:pPr algn="l">
              <a:lnSpc>
                <a:spcPts val="3247"/>
              </a:lnSpc>
            </a:pPr>
          </a:p>
          <a:p>
            <a:pPr algn="l">
              <a:lnSpc>
                <a:spcPts val="3247"/>
              </a:lnSpc>
            </a:pPr>
            <a:r>
              <a:rPr lang="en-US" sz="2319">
                <a:solidFill>
                  <a:srgbClr val="FFFFFF"/>
                </a:solidFill>
                <a:latin typeface="Poppins"/>
                <a:ea typeface="Poppins"/>
                <a:cs typeface="Poppins"/>
                <a:sym typeface="Poppins"/>
              </a:rPr>
              <a:t>Matplotlib,seaborn</a:t>
            </a:r>
          </a:p>
          <a:p>
            <a:pPr algn="l">
              <a:lnSpc>
                <a:spcPts val="3247"/>
              </a:lnSpc>
            </a:pPr>
          </a:p>
          <a:p>
            <a:pPr algn="l">
              <a:lnSpc>
                <a:spcPts val="3247"/>
              </a:lnSpc>
            </a:pPr>
            <a:r>
              <a:rPr lang="en-US" sz="2319">
                <a:solidFill>
                  <a:srgbClr val="FFFFFF"/>
                </a:solidFill>
                <a:latin typeface="Poppins"/>
                <a:ea typeface="Poppins"/>
                <a:cs typeface="Poppins"/>
                <a:sym typeface="Poppins"/>
              </a:rPr>
              <a:t>Plotly,Folium</a:t>
            </a:r>
          </a:p>
          <a:p>
            <a:pPr algn="l">
              <a:lnSpc>
                <a:spcPts val="3247"/>
              </a:lnSpc>
            </a:pPr>
          </a:p>
          <a:p>
            <a:pPr algn="l">
              <a:lnSpc>
                <a:spcPts val="3247"/>
              </a:lnSpc>
            </a:pPr>
            <a:r>
              <a:rPr lang="en-US" sz="2319">
                <a:solidFill>
                  <a:srgbClr val="FFFFFF"/>
                </a:solidFill>
                <a:latin typeface="Poppins"/>
                <a:ea typeface="Poppins"/>
                <a:cs typeface="Poppins"/>
                <a:sym typeface="Poppins"/>
              </a:rPr>
              <a:t>Scikit-learn </a:t>
            </a:r>
          </a:p>
          <a:p>
            <a:pPr algn="l">
              <a:lnSpc>
                <a:spcPts val="3247"/>
              </a:lnSpc>
            </a:pPr>
          </a:p>
          <a:p>
            <a:pPr algn="l">
              <a:lnSpc>
                <a:spcPts val="3247"/>
              </a:lnSpc>
            </a:pPr>
            <a:r>
              <a:rPr lang="en-US" sz="2319">
                <a:solidFill>
                  <a:srgbClr val="FFFFFF"/>
                </a:solidFill>
                <a:latin typeface="Poppins"/>
                <a:ea typeface="Poppins"/>
                <a:cs typeface="Poppins"/>
                <a:sym typeface="Poppins"/>
              </a:rPr>
              <a:t>Streamlit</a:t>
            </a:r>
          </a:p>
          <a:p>
            <a:pPr algn="l">
              <a:lnSpc>
                <a:spcPts val="3247"/>
              </a:lnSpc>
            </a:pPr>
          </a:p>
          <a:p>
            <a:pPr algn="l">
              <a:lnSpc>
                <a:spcPts val="3247"/>
              </a:lnSpc>
            </a:pPr>
            <a:r>
              <a:rPr lang="en-US" sz="2319">
                <a:solidFill>
                  <a:srgbClr val="FFFFFF"/>
                </a:solidFill>
                <a:latin typeface="Poppins"/>
                <a:ea typeface="Poppins"/>
                <a:cs typeface="Poppins"/>
                <a:sym typeface="Poppins"/>
              </a:rPr>
              <a:t>Github</a:t>
            </a:r>
          </a:p>
          <a:p>
            <a:pPr algn="l">
              <a:lnSpc>
                <a:spcPts val="3247"/>
              </a:lnSpc>
            </a:pPr>
          </a:p>
          <a:p>
            <a:pPr algn="ctr">
              <a:lnSpc>
                <a:spcPts val="3247"/>
              </a:lnSpc>
            </a:pPr>
          </a:p>
          <a:p>
            <a:pPr algn="ctr">
              <a:lnSpc>
                <a:spcPts val="415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28302" y="1028700"/>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497925" y="837324"/>
            <a:ext cx="5152504" cy="1193803"/>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Gagalin"/>
                <a:ea typeface="Gagalin"/>
                <a:cs typeface="Gagalin"/>
                <a:sym typeface="Gagalin"/>
              </a:rPr>
              <a:t>Methodology</a:t>
            </a:r>
          </a:p>
        </p:txBody>
      </p:sp>
      <p:sp>
        <p:nvSpPr>
          <p:cNvPr name="TextBox 8" id="8"/>
          <p:cNvSpPr txBox="true"/>
          <p:nvPr/>
        </p:nvSpPr>
        <p:spPr>
          <a:xfrm rot="0">
            <a:off x="2358039" y="2449014"/>
            <a:ext cx="13383141" cy="7013575"/>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Data Collection:</a:t>
            </a:r>
          </a:p>
          <a:p>
            <a:pPr algn="just">
              <a:lnSpc>
                <a:spcPts val="3499"/>
              </a:lnSpc>
            </a:pPr>
            <a:r>
              <a:rPr lang="en-US" sz="2499">
                <a:solidFill>
                  <a:srgbClr val="FFFFFF"/>
                </a:solidFill>
                <a:latin typeface="Poppins"/>
                <a:ea typeface="Poppins"/>
                <a:cs typeface="Poppins"/>
                <a:sym typeface="Poppins"/>
              </a:rPr>
              <a:t>Collect the raw Chicago Crime Incidents (2001–Present) dataset from Kaggle.</a:t>
            </a:r>
          </a:p>
          <a:p>
            <a:pPr algn="just">
              <a:lnSpc>
                <a:spcPts val="3499"/>
              </a:lnSpc>
            </a:pP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Data Understanding:</a:t>
            </a:r>
          </a:p>
          <a:p>
            <a:pPr algn="just">
              <a:lnSpc>
                <a:spcPts val="3499"/>
              </a:lnSpc>
            </a:pPr>
            <a:r>
              <a:rPr lang="en-US" sz="2499">
                <a:solidFill>
                  <a:srgbClr val="FFFFFF"/>
                </a:solidFill>
                <a:latin typeface="Poppins"/>
                <a:ea typeface="Poppins"/>
                <a:cs typeface="Poppins"/>
                <a:sym typeface="Poppins"/>
              </a:rPr>
              <a:t>Examine the dataset structure, data types, and key attributes.</a:t>
            </a:r>
          </a:p>
          <a:p>
            <a:pPr algn="just">
              <a:lnSpc>
                <a:spcPts val="3499"/>
              </a:lnSpc>
            </a:pPr>
            <a:r>
              <a:rPr lang="en-US" sz="2499">
                <a:solidFill>
                  <a:srgbClr val="FFFFFF"/>
                </a:solidFill>
                <a:latin typeface="Poppins"/>
                <a:ea typeface="Poppins"/>
                <a:cs typeface="Poppins"/>
                <a:sym typeface="Poppins"/>
              </a:rPr>
              <a:t>Generate an initial data quality report.</a:t>
            </a:r>
          </a:p>
          <a:p>
            <a:pPr algn="just">
              <a:lnSpc>
                <a:spcPts val="3499"/>
              </a:lnSpc>
            </a:pP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Data Preprocessing:</a:t>
            </a:r>
          </a:p>
          <a:p>
            <a:pPr algn="just">
              <a:lnSpc>
                <a:spcPts val="3499"/>
              </a:lnSpc>
            </a:pPr>
            <a:r>
              <a:rPr lang="en-US" sz="2499">
                <a:solidFill>
                  <a:srgbClr val="FFFFFF"/>
                </a:solidFill>
                <a:latin typeface="Poppins"/>
                <a:ea typeface="Poppins"/>
                <a:cs typeface="Poppins"/>
                <a:sym typeface="Poppins"/>
              </a:rPr>
              <a:t>Handle missing values and duplicate records.</a:t>
            </a:r>
          </a:p>
          <a:p>
            <a:pPr algn="just">
              <a:lnSpc>
                <a:spcPts val="3499"/>
              </a:lnSpc>
            </a:pPr>
            <a:r>
              <a:rPr lang="en-US" sz="2499">
                <a:solidFill>
                  <a:srgbClr val="FFFFFF"/>
                </a:solidFill>
                <a:latin typeface="Poppins"/>
                <a:ea typeface="Poppins"/>
                <a:cs typeface="Poppins"/>
                <a:sym typeface="Poppins"/>
              </a:rPr>
              <a:t>Clean inconsistent crime descriptions.</a:t>
            </a:r>
          </a:p>
          <a:p>
            <a:pPr algn="just">
              <a:lnSpc>
                <a:spcPts val="3499"/>
              </a:lnSpc>
            </a:pPr>
            <a:r>
              <a:rPr lang="en-US" sz="2499">
                <a:solidFill>
                  <a:srgbClr val="FFFFFF"/>
                </a:solidFill>
                <a:latin typeface="Poppins"/>
                <a:ea typeface="Poppins"/>
                <a:cs typeface="Poppins"/>
                <a:sym typeface="Poppins"/>
              </a:rPr>
              <a:t>Format date and time fields.</a:t>
            </a:r>
          </a:p>
          <a:p>
            <a:pPr algn="just">
              <a:lnSpc>
                <a:spcPts val="3499"/>
              </a:lnSpc>
            </a:pPr>
            <a:r>
              <a:rPr lang="en-US" sz="2499">
                <a:solidFill>
                  <a:srgbClr val="FFFFFF"/>
                </a:solidFill>
                <a:latin typeface="Poppins"/>
                <a:ea typeface="Poppins"/>
                <a:cs typeface="Poppins"/>
                <a:sym typeface="Poppins"/>
              </a:rPr>
              <a:t>Detect and treat outliers.</a:t>
            </a:r>
          </a:p>
          <a:p>
            <a:pPr algn="just">
              <a:lnSpc>
                <a:spcPts val="3499"/>
              </a:lnSpc>
            </a:pP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Exploratory Data Analysis (EDA):</a:t>
            </a:r>
          </a:p>
          <a:p>
            <a:pPr algn="just">
              <a:lnSpc>
                <a:spcPts val="3499"/>
              </a:lnSpc>
            </a:pPr>
            <a:r>
              <a:rPr lang="en-US" sz="2499">
                <a:solidFill>
                  <a:srgbClr val="FFFFFF"/>
                </a:solidFill>
                <a:latin typeface="Poppins"/>
                <a:ea typeface="Poppins"/>
                <a:cs typeface="Poppins"/>
                <a:sym typeface="Poppins"/>
              </a:rPr>
              <a:t>Analyze crime distribution by type, location, and time.</a:t>
            </a:r>
          </a:p>
          <a:p>
            <a:pPr algn="just">
              <a:lnSpc>
                <a:spcPts val="3499"/>
              </a:lnSpc>
              <a:spcBef>
                <a:spcPct val="0"/>
              </a:spcBef>
            </a:pPr>
            <a:r>
              <a:rPr lang="en-US" sz="2499">
                <a:solidFill>
                  <a:srgbClr val="FFFFFF"/>
                </a:solidFill>
                <a:latin typeface="Poppins"/>
                <a:ea typeface="Poppins"/>
                <a:cs typeface="Poppins"/>
                <a:sym typeface="Poppins"/>
              </a:rPr>
              <a:t>Identify trends, patterns, and correlations using statistical visualizations.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1079804"/>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071720" y="2036007"/>
            <a:ext cx="15047430" cy="6665595"/>
          </a:xfrm>
          <a:prstGeom prst="rect">
            <a:avLst/>
          </a:prstGeom>
        </p:spPr>
        <p:txBody>
          <a:bodyPr anchor="t" rtlCol="false" tIns="0" lIns="0" bIns="0" rIns="0">
            <a:spAutoFit/>
          </a:bodyPr>
          <a:lstStyle/>
          <a:p>
            <a:pPr algn="l" marL="582928" indent="-291464" lvl="1">
              <a:lnSpc>
                <a:spcPts val="3779"/>
              </a:lnSpc>
              <a:buFont typeface="Arial"/>
              <a:buChar char="•"/>
            </a:pPr>
            <a:r>
              <a:rPr lang="en-US" b="true" sz="2699">
                <a:solidFill>
                  <a:srgbClr val="FFFFFF"/>
                </a:solidFill>
                <a:latin typeface="Arimo Bold"/>
                <a:ea typeface="Arimo Bold"/>
                <a:cs typeface="Arimo Bold"/>
                <a:sym typeface="Arimo Bold"/>
              </a:rPr>
              <a:t>Feature Engineering:</a:t>
            </a:r>
          </a:p>
          <a:p>
            <a:pPr algn="l">
              <a:lnSpc>
                <a:spcPts val="3779"/>
              </a:lnSpc>
              <a:spcBef>
                <a:spcPct val="0"/>
              </a:spcBef>
            </a:pPr>
            <a:r>
              <a:rPr lang="en-US" sz="2699">
                <a:solidFill>
                  <a:srgbClr val="FFFFFF"/>
                </a:solidFill>
                <a:latin typeface="Arimo"/>
                <a:ea typeface="Arimo"/>
                <a:cs typeface="Arimo"/>
                <a:sym typeface="Arimo"/>
              </a:rPr>
              <a:t>Extract features such as Year, Month, Day, Hour, and Time of Day.</a:t>
            </a:r>
          </a:p>
          <a:p>
            <a:pPr algn="l">
              <a:lnSpc>
                <a:spcPts val="3779"/>
              </a:lnSpc>
              <a:spcBef>
                <a:spcPct val="0"/>
              </a:spcBef>
            </a:pPr>
            <a:r>
              <a:rPr lang="en-US" sz="2699">
                <a:solidFill>
                  <a:srgbClr val="FFFFFF"/>
                </a:solidFill>
                <a:latin typeface="Arimo"/>
                <a:ea typeface="Arimo"/>
                <a:cs typeface="Arimo"/>
                <a:sym typeface="Arimo"/>
              </a:rPr>
              <a:t>Encode categorical variables and scale numerical features.</a:t>
            </a:r>
          </a:p>
          <a:p>
            <a:pPr algn="l">
              <a:lnSpc>
                <a:spcPts val="3779"/>
              </a:lnSpc>
              <a:spcBef>
                <a:spcPct val="0"/>
              </a:spcBef>
            </a:pPr>
          </a:p>
          <a:p>
            <a:pPr algn="l" marL="582928" indent="-291464" lvl="1">
              <a:lnSpc>
                <a:spcPts val="3779"/>
              </a:lnSpc>
              <a:buFont typeface="Arial"/>
              <a:buChar char="•"/>
            </a:pPr>
            <a:r>
              <a:rPr lang="en-US" b="true" sz="2699">
                <a:solidFill>
                  <a:srgbClr val="FFFFFF"/>
                </a:solidFill>
                <a:latin typeface="Arimo Bold"/>
                <a:ea typeface="Arimo Bold"/>
                <a:cs typeface="Arimo Bold"/>
                <a:sym typeface="Arimo Bold"/>
              </a:rPr>
              <a:t>Dimensionality Reduction:</a:t>
            </a:r>
          </a:p>
          <a:p>
            <a:pPr algn="l">
              <a:lnSpc>
                <a:spcPts val="3779"/>
              </a:lnSpc>
              <a:spcBef>
                <a:spcPct val="0"/>
              </a:spcBef>
            </a:pPr>
            <a:r>
              <a:rPr lang="en-US" sz="2699">
                <a:solidFill>
                  <a:srgbClr val="FFFFFF"/>
                </a:solidFill>
                <a:latin typeface="Arimo"/>
                <a:ea typeface="Arimo"/>
                <a:cs typeface="Arimo"/>
                <a:sym typeface="Arimo"/>
              </a:rPr>
              <a:t>Apply Principal Component Analysis (PCA) to reduce feature complexity while retaining important information.</a:t>
            </a:r>
          </a:p>
          <a:p>
            <a:pPr algn="l">
              <a:lnSpc>
                <a:spcPts val="3779"/>
              </a:lnSpc>
              <a:spcBef>
                <a:spcPct val="0"/>
              </a:spcBef>
            </a:pPr>
          </a:p>
          <a:p>
            <a:pPr algn="l" marL="582928" indent="-291464" lvl="1">
              <a:lnSpc>
                <a:spcPts val="3779"/>
              </a:lnSpc>
              <a:buFont typeface="Arial"/>
              <a:buChar char="•"/>
            </a:pPr>
            <a:r>
              <a:rPr lang="en-US" b="true" sz="2699">
                <a:solidFill>
                  <a:srgbClr val="FFFFFF"/>
                </a:solidFill>
                <a:latin typeface="Arimo Bold"/>
                <a:ea typeface="Arimo Bold"/>
                <a:cs typeface="Arimo Bold"/>
                <a:sym typeface="Arimo Bold"/>
              </a:rPr>
              <a:t>Dashboard Development:</a:t>
            </a:r>
          </a:p>
          <a:p>
            <a:pPr algn="l">
              <a:lnSpc>
                <a:spcPts val="3779"/>
              </a:lnSpc>
              <a:spcBef>
                <a:spcPct val="0"/>
              </a:spcBef>
            </a:pPr>
            <a:r>
              <a:rPr lang="en-US" sz="2699">
                <a:solidFill>
                  <a:srgbClr val="FFFFFF"/>
                </a:solidFill>
                <a:latin typeface="Arimo"/>
                <a:ea typeface="Arimo"/>
                <a:cs typeface="Arimo"/>
                <a:sym typeface="Arimo"/>
              </a:rPr>
              <a:t>Build an interactive dashboard with maps, charts, filters, and KPI cards using Streamlit/Power BI.</a:t>
            </a:r>
          </a:p>
          <a:p>
            <a:pPr algn="l">
              <a:lnSpc>
                <a:spcPts val="3779"/>
              </a:lnSpc>
              <a:spcBef>
                <a:spcPct val="0"/>
              </a:spcBef>
            </a:pPr>
          </a:p>
          <a:p>
            <a:pPr algn="l" marL="582928" indent="-291464" lvl="1">
              <a:lnSpc>
                <a:spcPts val="3779"/>
              </a:lnSpc>
              <a:buFont typeface="Arial"/>
              <a:buChar char="•"/>
            </a:pPr>
            <a:r>
              <a:rPr lang="en-US" b="true" sz="2699">
                <a:solidFill>
                  <a:srgbClr val="FFFFFF"/>
                </a:solidFill>
                <a:latin typeface="Arimo Bold"/>
                <a:ea typeface="Arimo Bold"/>
                <a:cs typeface="Arimo Bold"/>
                <a:sym typeface="Arimo Bold"/>
              </a:rPr>
              <a:t>Insights &amp; Recommendations:</a:t>
            </a:r>
          </a:p>
          <a:p>
            <a:pPr algn="l">
              <a:lnSpc>
                <a:spcPts val="3779"/>
              </a:lnSpc>
              <a:spcBef>
                <a:spcPct val="0"/>
              </a:spcBef>
            </a:pPr>
            <a:r>
              <a:rPr lang="en-US" sz="2699">
                <a:solidFill>
                  <a:srgbClr val="FFFFFF"/>
                </a:solidFill>
                <a:latin typeface="Arimo"/>
                <a:ea typeface="Arimo"/>
                <a:cs typeface="Arimo"/>
                <a:sym typeface="Arimo"/>
              </a:rPr>
              <a:t>Identify crime hotspots, peak crime periods, and key crime patterns.</a:t>
            </a:r>
          </a:p>
          <a:p>
            <a:pPr algn="l">
              <a:lnSpc>
                <a:spcPts val="3779"/>
              </a:lnSpc>
              <a:spcBef>
                <a:spcPct val="0"/>
              </a:spcBef>
            </a:pPr>
            <a:r>
              <a:rPr lang="en-US" sz="2699">
                <a:solidFill>
                  <a:srgbClr val="FFFFFF"/>
                </a:solidFill>
                <a:latin typeface="Arimo"/>
                <a:ea typeface="Arimo"/>
                <a:cs typeface="Arimo"/>
                <a:sym typeface="Arimo"/>
              </a:rPr>
              <a:t>Provide actionable insights to support public safety and crime prevention.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1079804"/>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1948881"/>
            <a:ext cx="15096902" cy="7439660"/>
          </a:xfrm>
          <a:prstGeom prst="rect">
            <a:avLst/>
          </a:prstGeom>
        </p:spPr>
        <p:txBody>
          <a:bodyPr anchor="t" rtlCol="false" tIns="0" lIns="0" bIns="0" rIns="0">
            <a:spAutoFit/>
          </a:bodyPr>
          <a:lstStyle/>
          <a:p>
            <a:pPr algn="ctr">
              <a:lnSpc>
                <a:spcPts val="9799"/>
              </a:lnSpc>
              <a:spcBef>
                <a:spcPct val="0"/>
              </a:spcBef>
            </a:pPr>
          </a:p>
          <a:p>
            <a:pPr algn="just">
              <a:lnSpc>
                <a:spcPts val="3779"/>
              </a:lnSpc>
              <a:spcBef>
                <a:spcPct val="0"/>
              </a:spcBef>
            </a:pPr>
            <a:r>
              <a:rPr lang="en-US" sz="2700">
                <a:solidFill>
                  <a:srgbClr val="FFFFFF"/>
                </a:solidFill>
                <a:latin typeface="Poppins"/>
                <a:ea typeface="Poppins"/>
                <a:cs typeface="Poppins"/>
                <a:sym typeface="Poppins"/>
              </a:rPr>
              <a:t>The final dashboard will provide:</a:t>
            </a:r>
          </a:p>
          <a:p>
            <a:pPr algn="just">
              <a:lnSpc>
                <a:spcPts val="3779"/>
              </a:lnSpc>
              <a:spcBef>
                <a:spcPct val="0"/>
              </a:spcBef>
            </a:pPr>
          </a:p>
          <a:p>
            <a:pPr algn="just" marL="582930" indent="-291465" lvl="1">
              <a:lnSpc>
                <a:spcPts val="3779"/>
              </a:lnSpc>
              <a:buFont typeface="Arial"/>
              <a:buChar char="•"/>
            </a:pPr>
            <a:r>
              <a:rPr lang="en-US" sz="2700">
                <a:solidFill>
                  <a:srgbClr val="FFFFFF"/>
                </a:solidFill>
                <a:latin typeface="Poppins"/>
                <a:ea typeface="Poppins"/>
                <a:cs typeface="Poppins"/>
                <a:sym typeface="Poppins"/>
              </a:rPr>
              <a:t> </a:t>
            </a:r>
            <a:r>
              <a:rPr lang="en-US" sz="2700">
                <a:solidFill>
                  <a:srgbClr val="FFFFFF"/>
                </a:solidFill>
                <a:latin typeface="Poppins"/>
                <a:ea typeface="Poppins"/>
                <a:cs typeface="Poppins"/>
                <a:sym typeface="Poppins"/>
              </a:rPr>
              <a:t>Total Crime Statistics</a:t>
            </a:r>
          </a:p>
          <a:p>
            <a:pPr algn="just" marL="582930" indent="-291465" lvl="1">
              <a:lnSpc>
                <a:spcPts val="3779"/>
              </a:lnSpc>
              <a:buFont typeface="Arial"/>
              <a:buChar char="•"/>
            </a:pPr>
            <a:r>
              <a:rPr lang="en-US" sz="2700">
                <a:solidFill>
                  <a:srgbClr val="FFFFFF"/>
                </a:solidFill>
                <a:latin typeface="Poppins"/>
                <a:ea typeface="Poppins"/>
                <a:cs typeface="Poppins"/>
                <a:sym typeface="Poppins"/>
              </a:rPr>
              <a:t> Interactive Crime Hotspot Map</a:t>
            </a:r>
          </a:p>
          <a:p>
            <a:pPr algn="just" marL="582930" indent="-291465" lvl="1">
              <a:lnSpc>
                <a:spcPts val="3779"/>
              </a:lnSpc>
              <a:buFont typeface="Arial"/>
              <a:buChar char="•"/>
            </a:pPr>
            <a:r>
              <a:rPr lang="en-US" sz="2700">
                <a:solidFill>
                  <a:srgbClr val="FFFFFF"/>
                </a:solidFill>
                <a:latin typeface="Poppins"/>
                <a:ea typeface="Poppins"/>
                <a:cs typeface="Poppins"/>
                <a:sym typeface="Poppins"/>
              </a:rPr>
              <a:t>Crime Trend Analysis</a:t>
            </a:r>
          </a:p>
          <a:p>
            <a:pPr algn="just" marL="582930" indent="-291465" lvl="1">
              <a:lnSpc>
                <a:spcPts val="3779"/>
              </a:lnSpc>
              <a:buFont typeface="Arial"/>
              <a:buChar char="•"/>
            </a:pPr>
            <a:r>
              <a:rPr lang="en-US" sz="2700">
                <a:solidFill>
                  <a:srgbClr val="FFFFFF"/>
                </a:solidFill>
                <a:latin typeface="Poppins"/>
                <a:ea typeface="Poppins"/>
                <a:cs typeface="Poppins"/>
                <a:sym typeface="Poppins"/>
              </a:rPr>
              <a:t> Crime Category Analysis</a:t>
            </a:r>
          </a:p>
          <a:p>
            <a:pPr algn="just" marL="582930" indent="-291465" lvl="1">
              <a:lnSpc>
                <a:spcPts val="3779"/>
              </a:lnSpc>
              <a:buFont typeface="Arial"/>
              <a:buChar char="•"/>
            </a:pPr>
            <a:r>
              <a:rPr lang="en-US" sz="2700">
                <a:solidFill>
                  <a:srgbClr val="FFFFFF"/>
                </a:solidFill>
                <a:latin typeface="Poppins"/>
                <a:ea typeface="Poppins"/>
                <a:cs typeface="Poppins"/>
                <a:sym typeface="Poppins"/>
              </a:rPr>
              <a:t> Arrest Analysis</a:t>
            </a:r>
          </a:p>
          <a:p>
            <a:pPr algn="just" marL="582930" indent="-291465" lvl="1">
              <a:lnSpc>
                <a:spcPts val="3779"/>
              </a:lnSpc>
              <a:buFont typeface="Arial"/>
              <a:buChar char="•"/>
            </a:pPr>
            <a:r>
              <a:rPr lang="en-US" sz="2700">
                <a:solidFill>
                  <a:srgbClr val="FFFFFF"/>
                </a:solidFill>
                <a:latin typeface="Poppins"/>
                <a:ea typeface="Poppins"/>
                <a:cs typeface="Poppins"/>
                <a:sym typeface="Poppins"/>
              </a:rPr>
              <a:t>Domestic Crime Analysis</a:t>
            </a:r>
          </a:p>
          <a:p>
            <a:pPr algn="just" marL="582930" indent="-291465" lvl="1">
              <a:lnSpc>
                <a:spcPts val="3779"/>
              </a:lnSpc>
              <a:buFont typeface="Arial"/>
              <a:buChar char="•"/>
            </a:pPr>
            <a:r>
              <a:rPr lang="en-US" sz="2700">
                <a:solidFill>
                  <a:srgbClr val="FFFFFF"/>
                </a:solidFill>
                <a:latin typeface="Poppins"/>
                <a:ea typeface="Poppins"/>
                <a:cs typeface="Poppins"/>
                <a:sym typeface="Poppins"/>
              </a:rPr>
              <a:t> District-wise Crime Analysis</a:t>
            </a:r>
          </a:p>
          <a:p>
            <a:pPr algn="just" marL="582930" indent="-291465" lvl="1">
              <a:lnSpc>
                <a:spcPts val="3779"/>
              </a:lnSpc>
              <a:buFont typeface="Arial"/>
              <a:buChar char="•"/>
            </a:pPr>
            <a:r>
              <a:rPr lang="en-US" sz="2700">
                <a:solidFill>
                  <a:srgbClr val="FFFFFF"/>
                </a:solidFill>
                <a:latin typeface="Poppins"/>
                <a:ea typeface="Poppins"/>
                <a:cs typeface="Poppins"/>
                <a:sym typeface="Poppins"/>
              </a:rPr>
              <a:t>Time-Based Crime Analysis</a:t>
            </a:r>
          </a:p>
          <a:p>
            <a:pPr algn="just" marL="582930" indent="-291465" lvl="1">
              <a:lnSpc>
                <a:spcPts val="3779"/>
              </a:lnSpc>
              <a:buFont typeface="Arial"/>
              <a:buChar char="•"/>
            </a:pPr>
            <a:r>
              <a:rPr lang="en-US" sz="2700">
                <a:solidFill>
                  <a:srgbClr val="FFFFFF"/>
                </a:solidFill>
                <a:latin typeface="Poppins"/>
                <a:ea typeface="Poppins"/>
                <a:cs typeface="Poppins"/>
                <a:sym typeface="Poppins"/>
              </a:rPr>
              <a:t>Interactive Filters</a:t>
            </a:r>
          </a:p>
          <a:p>
            <a:pPr algn="just">
              <a:lnSpc>
                <a:spcPts val="3779"/>
              </a:lnSpc>
            </a:pPr>
          </a:p>
          <a:p>
            <a:pPr algn="just">
              <a:lnSpc>
                <a:spcPts val="3779"/>
              </a:lnSpc>
              <a:spcBef>
                <a:spcPct val="0"/>
              </a:spcBef>
            </a:pPr>
            <a:r>
              <a:rPr lang="en-US" sz="2700">
                <a:solidFill>
                  <a:srgbClr val="FFFFFF"/>
                </a:solidFill>
                <a:latin typeface="Poppins"/>
                <a:ea typeface="Poppins"/>
                <a:cs typeface="Poppins"/>
                <a:sym typeface="Poppins"/>
              </a:rPr>
              <a:t>The dashboard will enable users to explore crime data and generate actionable insights</a:t>
            </a:r>
          </a:p>
        </p:txBody>
      </p:sp>
      <p:sp>
        <p:nvSpPr>
          <p:cNvPr name="TextBox 8" id="8"/>
          <p:cNvSpPr txBox="true"/>
          <p:nvPr/>
        </p:nvSpPr>
        <p:spPr>
          <a:xfrm rot="0">
            <a:off x="1028700" y="1748615"/>
            <a:ext cx="6853089" cy="1193800"/>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Gagalin"/>
                <a:ea typeface="Gagalin"/>
                <a:cs typeface="Gagalin"/>
                <a:sym typeface="Gagalin"/>
              </a:rPr>
              <a:t>Dashboard Vision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1079804"/>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62883" y="1192979"/>
            <a:ext cx="9930408" cy="6591935"/>
          </a:xfrm>
          <a:prstGeom prst="rect">
            <a:avLst/>
          </a:prstGeom>
        </p:spPr>
        <p:txBody>
          <a:bodyPr anchor="t" rtlCol="false" tIns="0" lIns="0" bIns="0" rIns="0">
            <a:spAutoFit/>
          </a:bodyPr>
          <a:lstStyle/>
          <a:p>
            <a:pPr algn="ctr">
              <a:lnSpc>
                <a:spcPts val="9799"/>
              </a:lnSpc>
              <a:spcBef>
                <a:spcPct val="0"/>
              </a:spcBef>
            </a:pPr>
          </a:p>
          <a:p>
            <a:pPr algn="ctr">
              <a:lnSpc>
                <a:spcPts val="8368"/>
              </a:lnSpc>
              <a:spcBef>
                <a:spcPct val="0"/>
              </a:spcBef>
            </a:pPr>
          </a:p>
          <a:p>
            <a:pPr algn="l">
              <a:lnSpc>
                <a:spcPts val="3779"/>
              </a:lnSpc>
            </a:pPr>
            <a:r>
              <a:rPr lang="en-US" sz="2700">
                <a:solidFill>
                  <a:srgbClr val="FFFFFF"/>
                </a:solidFill>
                <a:latin typeface="Arimo"/>
                <a:ea typeface="Arimo"/>
                <a:cs typeface="Arimo"/>
                <a:sym typeface="Arimo"/>
              </a:rPr>
              <a:t>Since the project is in its initial stage, the expected outcomes are:</a:t>
            </a:r>
          </a:p>
          <a:p>
            <a:pPr algn="l">
              <a:lnSpc>
                <a:spcPts val="3779"/>
              </a:lnSpc>
            </a:pPr>
          </a:p>
          <a:p>
            <a:pPr algn="l" marL="582930" indent="-291465" lvl="1">
              <a:lnSpc>
                <a:spcPts val="3779"/>
              </a:lnSpc>
              <a:buFont typeface="Arial"/>
              <a:buChar char="•"/>
            </a:pPr>
            <a:r>
              <a:rPr lang="en-US" sz="2700">
                <a:solidFill>
                  <a:srgbClr val="FFFFFF"/>
                </a:solidFill>
                <a:latin typeface="Arimo"/>
                <a:ea typeface="Arimo"/>
                <a:cs typeface="Arimo"/>
                <a:sym typeface="Arimo"/>
              </a:rPr>
              <a:t>Clean and structured crime dataset.</a:t>
            </a:r>
          </a:p>
          <a:p>
            <a:pPr algn="l" marL="582930" indent="-291465" lvl="1">
              <a:lnSpc>
                <a:spcPts val="3779"/>
              </a:lnSpc>
              <a:buFont typeface="Arial"/>
              <a:buChar char="•"/>
            </a:pPr>
            <a:r>
              <a:rPr lang="en-US" sz="2700">
                <a:solidFill>
                  <a:srgbClr val="FFFFFF"/>
                </a:solidFill>
                <a:latin typeface="Arimo"/>
                <a:ea typeface="Arimo"/>
                <a:cs typeface="Arimo"/>
                <a:sym typeface="Arimo"/>
              </a:rPr>
              <a:t>Comprehensive Data Quality Report.</a:t>
            </a:r>
          </a:p>
          <a:p>
            <a:pPr algn="l" marL="582930" indent="-291465" lvl="1">
              <a:lnSpc>
                <a:spcPts val="3779"/>
              </a:lnSpc>
              <a:buFont typeface="Arial"/>
              <a:buChar char="•"/>
            </a:pPr>
            <a:r>
              <a:rPr lang="en-US" sz="2700">
                <a:solidFill>
                  <a:srgbClr val="FFFFFF"/>
                </a:solidFill>
                <a:latin typeface="Arimo"/>
                <a:ea typeface="Arimo"/>
                <a:cs typeface="Arimo"/>
                <a:sym typeface="Arimo"/>
              </a:rPr>
              <a:t>Identification of crime hotspots.</a:t>
            </a:r>
          </a:p>
          <a:p>
            <a:pPr algn="l" marL="582930" indent="-291465" lvl="1">
              <a:lnSpc>
                <a:spcPts val="3779"/>
              </a:lnSpc>
              <a:buFont typeface="Arial"/>
              <a:buChar char="•"/>
            </a:pPr>
            <a:r>
              <a:rPr lang="en-US" sz="2700">
                <a:solidFill>
                  <a:srgbClr val="FFFFFF"/>
                </a:solidFill>
                <a:latin typeface="Arimo"/>
                <a:ea typeface="Arimo"/>
                <a:cs typeface="Arimo"/>
                <a:sym typeface="Arimo"/>
              </a:rPr>
              <a:t>Detection of peak crime hours.</a:t>
            </a:r>
          </a:p>
          <a:p>
            <a:pPr algn="l" marL="582930" indent="-291465" lvl="1">
              <a:lnSpc>
                <a:spcPts val="3779"/>
              </a:lnSpc>
              <a:buFont typeface="Arial"/>
              <a:buChar char="•"/>
            </a:pPr>
            <a:r>
              <a:rPr lang="en-US" sz="2700">
                <a:solidFill>
                  <a:srgbClr val="FFFFFF"/>
                </a:solidFill>
                <a:latin typeface="Arimo"/>
                <a:ea typeface="Arimo"/>
                <a:cs typeface="Arimo"/>
                <a:sym typeface="Arimo"/>
              </a:rPr>
              <a:t>Crime trend analysis across years and locations.</a:t>
            </a:r>
          </a:p>
          <a:p>
            <a:pPr algn="l" marL="582930" indent="-291465" lvl="1">
              <a:lnSpc>
                <a:spcPts val="3779"/>
              </a:lnSpc>
              <a:buFont typeface="Arial"/>
              <a:buChar char="•"/>
            </a:pPr>
            <a:r>
              <a:rPr lang="en-US" sz="2700">
                <a:solidFill>
                  <a:srgbClr val="FFFFFF"/>
                </a:solidFill>
                <a:latin typeface="Arimo"/>
                <a:ea typeface="Arimo"/>
                <a:cs typeface="Arimo"/>
                <a:sym typeface="Arimo"/>
              </a:rPr>
              <a:t>PCA visualization of important crime-related factors.</a:t>
            </a:r>
          </a:p>
          <a:p>
            <a:pPr algn="l" marL="582930" indent="-291465" lvl="1">
              <a:lnSpc>
                <a:spcPts val="3779"/>
              </a:lnSpc>
              <a:buFont typeface="Arial"/>
              <a:buChar char="•"/>
            </a:pPr>
            <a:r>
              <a:rPr lang="en-US" sz="2700">
                <a:solidFill>
                  <a:srgbClr val="FFFFFF"/>
                </a:solidFill>
                <a:latin typeface="Arimo"/>
                <a:ea typeface="Arimo"/>
                <a:cs typeface="Arimo"/>
                <a:sym typeface="Arimo"/>
              </a:rPr>
              <a:t>Interactive dashboard for data-driven decision-making.</a:t>
            </a:r>
          </a:p>
        </p:txBody>
      </p:sp>
      <p:sp>
        <p:nvSpPr>
          <p:cNvPr name="TextBox 8" id="8"/>
          <p:cNvSpPr txBox="true"/>
          <p:nvPr/>
        </p:nvSpPr>
        <p:spPr>
          <a:xfrm rot="0">
            <a:off x="694898" y="2062471"/>
            <a:ext cx="9971311" cy="1193800"/>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Gagalin"/>
                <a:ea typeface="Gagalin"/>
                <a:cs typeface="Gagalin"/>
                <a:sym typeface="Gagalin"/>
              </a:rPr>
              <a:t>Expected Outcome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560343" y="9889125"/>
            <a:ext cx="19408687" cy="996493"/>
            <a:chOff x="0" y="0"/>
            <a:chExt cx="5111753" cy="262451"/>
          </a:xfrm>
        </p:grpSpPr>
        <p:sp>
          <p:nvSpPr>
            <p:cNvPr name="Freeform 4" id="4"/>
            <p:cNvSpPr/>
            <p:nvPr/>
          </p:nvSpPr>
          <p:spPr>
            <a:xfrm flipH="false" flipV="false" rot="0">
              <a:off x="0" y="0"/>
              <a:ext cx="5111753" cy="262451"/>
            </a:xfrm>
            <a:custGeom>
              <a:avLst/>
              <a:gdLst/>
              <a:ahLst/>
              <a:cxnLst/>
              <a:rect r="r" b="b" t="t" l="l"/>
              <a:pathLst>
                <a:path h="262451" w="5111753">
                  <a:moveTo>
                    <a:pt x="0" y="0"/>
                  </a:moveTo>
                  <a:lnTo>
                    <a:pt x="5111753" y="0"/>
                  </a:lnTo>
                  <a:lnTo>
                    <a:pt x="5111753" y="262451"/>
                  </a:lnTo>
                  <a:lnTo>
                    <a:pt x="0" y="262451"/>
                  </a:lnTo>
                  <a:close/>
                </a:path>
              </a:pathLst>
            </a:custGeom>
            <a:solidFill>
              <a:srgbClr val="5CA3B2"/>
            </a:solidFill>
          </p:spPr>
        </p:sp>
        <p:sp>
          <p:nvSpPr>
            <p:cNvPr name="TextBox 5" id="5"/>
            <p:cNvSpPr txBox="true"/>
            <p:nvPr/>
          </p:nvSpPr>
          <p:spPr>
            <a:xfrm>
              <a:off x="0" y="-57150"/>
              <a:ext cx="5111753" cy="319601"/>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98466" y="1079804"/>
            <a:ext cx="860834" cy="1002427"/>
          </a:xfrm>
          <a:custGeom>
            <a:avLst/>
            <a:gdLst/>
            <a:ahLst/>
            <a:cxnLst/>
            <a:rect r="r" b="b" t="t" l="l"/>
            <a:pathLst>
              <a:path h="1002427" w="860834">
                <a:moveTo>
                  <a:pt x="0" y="0"/>
                </a:moveTo>
                <a:lnTo>
                  <a:pt x="860834" y="0"/>
                </a:lnTo>
                <a:lnTo>
                  <a:pt x="860834" y="1002427"/>
                </a:lnTo>
                <a:lnTo>
                  <a:pt x="0" y="1002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279992" y="4479925"/>
            <a:ext cx="4378226" cy="1193800"/>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Gagalin"/>
                <a:ea typeface="Gagalin"/>
                <a:cs typeface="Gagalin"/>
                <a:sym typeface="Gagalin"/>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DAHQxE4CQqE</dc:identifier>
  <dcterms:modified xsi:type="dcterms:W3CDTF">2011-08-01T06:04:30Z</dcterms:modified>
  <cp:revision>1</cp:revision>
  <dc:title>Crime Hotspot Mapping ppt</dc:title>
</cp:coreProperties>
</file>